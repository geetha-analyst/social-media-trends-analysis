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sldIdLst>
    <p:sldId id="271" r:id="rId2"/>
    <p:sldId id="257" r:id="rId3"/>
    <p:sldId id="258" r:id="rId4"/>
    <p:sldId id="259" r:id="rId5"/>
    <p:sldId id="260" r:id="rId6"/>
    <p:sldId id="261" r:id="rId7"/>
    <p:sldId id="263" r:id="rId8"/>
    <p:sldId id="264" r:id="rId9"/>
    <p:sldId id="265" r:id="rId10"/>
    <p:sldId id="266" r:id="rId11"/>
    <p:sldId id="274" r:id="rId12"/>
    <p:sldId id="277" r:id="rId13"/>
    <p:sldId id="273" r:id="rId14"/>
    <p:sldId id="275"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userDrawn="1">
          <p15:clr>
            <a:srgbClr val="A4A3A4"/>
          </p15:clr>
        </p15:guide>
        <p15:guide id="2" pos="29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77" d="100"/>
          <a:sy n="77" d="100"/>
        </p:scale>
        <p:origin x="1618" y="58"/>
      </p:cViewPr>
      <p:guideLst>
        <p:guide orient="horz" pos="2155"/>
        <p:guide pos="291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arshit%20Pandey\Desktop\Project%20Excel\PROJECT%20DATASET&amp;AL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eeth\Downloads\PROJECT%20DATASET&amp;ALL-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eeth\Downloads\PROJECT%20DATASET&amp;ALL-1.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eeth\Downloads\PROJECT%20DATASET&amp;ALL-1.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 DATASET&amp;ALL.xlsx]PLATFORM ANALYSIS!PivotTable6</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solidFill>
                  <a:schemeClr val="accent1"/>
                </a:solidFill>
              </a:rPr>
              <a:t>Views</a:t>
            </a:r>
            <a:r>
              <a:rPr lang="en-US" baseline="0">
                <a:solidFill>
                  <a:schemeClr val="accent1"/>
                </a:solidFill>
              </a:rPr>
              <a:t> By Platform</a:t>
            </a:r>
            <a:endParaRPr lang="en-US">
              <a:solidFill>
                <a:schemeClr val="accent1"/>
              </a:solidFill>
            </a:endParaRPr>
          </a:p>
        </c:rich>
      </c:tx>
      <c:layout>
        <c:manualLayout>
          <c:xMode val="edge"/>
          <c:yMode val="edge"/>
          <c:x val="0.35181233595800526"/>
          <c:y val="6.379410906969962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'PLATFORM ANALYSIS'!$B$3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'PLATFORM ANALYSIS'!$A$4:$A$8</c:f>
              <c:strCache>
                <c:ptCount val="4"/>
                <c:pt idx="0">
                  <c:v>Instagram</c:v>
                </c:pt>
                <c:pt idx="1">
                  <c:v>TikTok</c:v>
                </c:pt>
                <c:pt idx="2">
                  <c:v>Twitter</c:v>
                </c:pt>
                <c:pt idx="3">
                  <c:v>YouTube</c:v>
                </c:pt>
              </c:strCache>
            </c:strRef>
          </c:cat>
          <c:val>
            <c:numRef>
              <c:f>'PLATFORM ANALYSIS'!$B$4:$B$8</c:f>
              <c:numCache>
                <c:formatCode>0</c:formatCode>
                <c:ptCount val="4"/>
                <c:pt idx="0">
                  <c:v>1978766.6</c:v>
                </c:pt>
                <c:pt idx="1">
                  <c:v>2549368</c:v>
                </c:pt>
                <c:pt idx="2">
                  <c:v>2848151.3333333335</c:v>
                </c:pt>
                <c:pt idx="3">
                  <c:v>1548097.875</c:v>
                </c:pt>
              </c:numCache>
            </c:numRef>
          </c:val>
          <c:extLst>
            <c:ext xmlns:c16="http://schemas.microsoft.com/office/drawing/2014/chart" uri="{C3380CC4-5D6E-409C-BE32-E72D297353CC}">
              <c16:uniqueId val="{00000000-68C4-45D1-AD10-1ACB99BC6F35}"/>
            </c:ext>
          </c:extLst>
        </c:ser>
        <c:dLbls>
          <c:dLblPos val="outEnd"/>
          <c:showLegendKey val="0"/>
          <c:showVal val="1"/>
          <c:showCatName val="0"/>
          <c:showSerName val="0"/>
          <c:showPercent val="0"/>
          <c:showBubbleSize val="0"/>
        </c:dLbls>
        <c:gapWidth val="219"/>
        <c:overlap val="-27"/>
        <c:axId val="1940200448"/>
        <c:axId val="1940146688"/>
      </c:barChart>
      <c:catAx>
        <c:axId val="19402004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Platform</a:t>
                </a:r>
              </a:p>
            </c:rich>
          </c:tx>
          <c:layout>
            <c:manualLayout>
              <c:xMode val="edge"/>
              <c:yMode val="edge"/>
              <c:x val="0.47678381225915395"/>
              <c:y val="0.8894677392160783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940146688"/>
        <c:crosses val="autoZero"/>
        <c:auto val="1"/>
        <c:lblAlgn val="ctr"/>
        <c:lblOffset val="100"/>
        <c:noMultiLvlLbl val="0"/>
      </c:catAx>
      <c:valAx>
        <c:axId val="194014668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Avg.</a:t>
                </a:r>
                <a:r>
                  <a:rPr lang="en-IN" b="1" baseline="0"/>
                  <a:t> Views</a:t>
                </a:r>
                <a:endParaRPr lang="en-IN" b="1"/>
              </a:p>
            </c:rich>
          </c:tx>
          <c:layout>
            <c:manualLayout>
              <c:xMode val="edge"/>
              <c:yMode val="edge"/>
              <c:x val="1.6666666666666666E-2"/>
              <c:y val="0.3643095654709828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402004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 DATASET&amp;ALL-1.xlsx]CONTENT ANALYSIS!PivotTable4</c:name>
    <c:fmtId val="-1"/>
  </c:pivotSource>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solidFill>
                  <a:schemeClr val="accent1"/>
                </a:solidFill>
              </a:rPr>
              <a:t>Content</a:t>
            </a:r>
            <a:r>
              <a:rPr lang="en-US" baseline="0">
                <a:solidFill>
                  <a:schemeClr val="accent1"/>
                </a:solidFill>
              </a:rPr>
              <a:t> type Performance</a:t>
            </a:r>
          </a:p>
          <a:p>
            <a:pPr>
              <a:defRPr/>
            </a:pPr>
            <a:r>
              <a:rPr lang="en-US" sz="1000" baseline="0">
                <a:solidFill>
                  <a:schemeClr val="accent1"/>
                </a:solidFill>
              </a:rPr>
              <a:t>(by Avg. Engagement Rate)</a:t>
            </a:r>
            <a:endParaRPr lang="en-US" sz="1000">
              <a:solidFill>
                <a:schemeClr val="accent1"/>
              </a:solidFill>
            </a:endParaRPr>
          </a:p>
        </c:rich>
      </c:tx>
      <c:layout>
        <c:manualLayout>
          <c:xMode val="edge"/>
          <c:yMode val="edge"/>
          <c:x val="0.31059211589636893"/>
          <c:y val="2.2724906171196251E-2"/>
        </c:manualLayout>
      </c:layout>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'CONTENT ANALYSIS'!$B$22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'CONTENT ANALYSIS'!$A$23:$A$29</c:f>
              <c:strCache>
                <c:ptCount val="6"/>
                <c:pt idx="0">
                  <c:v>Live Stream</c:v>
                </c:pt>
                <c:pt idx="1">
                  <c:v>Post</c:v>
                </c:pt>
                <c:pt idx="2">
                  <c:v>Reel</c:v>
                </c:pt>
                <c:pt idx="3">
                  <c:v>Shorts</c:v>
                </c:pt>
                <c:pt idx="4">
                  <c:v>Tweet</c:v>
                </c:pt>
                <c:pt idx="5">
                  <c:v>Video</c:v>
                </c:pt>
              </c:strCache>
            </c:strRef>
          </c:cat>
          <c:val>
            <c:numRef>
              <c:f>'CONTENT ANALYSIS'!$B$23:$B$29</c:f>
              <c:numCache>
                <c:formatCode>0.00%</c:formatCode>
                <c:ptCount val="6"/>
                <c:pt idx="0">
                  <c:v>0.189524593668012</c:v>
                </c:pt>
                <c:pt idx="1">
                  <c:v>0.19917227908786</c:v>
                </c:pt>
                <c:pt idx="2">
                  <c:v>0.16243711491561799</c:v>
                </c:pt>
                <c:pt idx="3">
                  <c:v>0.19578009411326999</c:v>
                </c:pt>
                <c:pt idx="4">
                  <c:v>0.18920407439696199</c:v>
                </c:pt>
                <c:pt idx="5">
                  <c:v>0.18676958162745799</c:v>
                </c:pt>
              </c:numCache>
            </c:numRef>
          </c:val>
          <c:extLst>
            <c:ext xmlns:c16="http://schemas.microsoft.com/office/drawing/2014/chart" uri="{C3380CC4-5D6E-409C-BE32-E72D297353CC}">
              <c16:uniqueId val="{00000000-1A6C-4065-A40F-2CA136CC9A3C}"/>
            </c:ext>
          </c:extLst>
        </c:ser>
        <c:dLbls>
          <c:showLegendKey val="0"/>
          <c:showVal val="1"/>
          <c:showCatName val="0"/>
          <c:showSerName val="0"/>
          <c:showPercent val="0"/>
          <c:showBubbleSize val="0"/>
        </c:dLbls>
        <c:gapWidth val="182"/>
        <c:axId val="1940159648"/>
        <c:axId val="1940143328"/>
      </c:barChart>
      <c:catAx>
        <c:axId val="1940159648"/>
        <c:scaling>
          <c:orientation val="minMax"/>
        </c:scaling>
        <c:delete val="0"/>
        <c:axPos val="l"/>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IN" b="1"/>
                  <a:t>Content</a:t>
                </a:r>
                <a:r>
                  <a:rPr lang="en-IN" b="1" baseline="0"/>
                  <a:t> Type</a:t>
                </a:r>
                <a:endParaRPr lang="en-IN" b="1"/>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940143328"/>
        <c:crosses val="autoZero"/>
        <c:auto val="1"/>
        <c:lblAlgn val="ctr"/>
        <c:lblOffset val="100"/>
        <c:noMultiLvlLbl val="0"/>
      </c:catAx>
      <c:valAx>
        <c:axId val="1940143328"/>
        <c:scaling>
          <c:orientation val="minMax"/>
        </c:scaling>
        <c:delete val="0"/>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IN" b="1"/>
                  <a:t>Avg.</a:t>
                </a:r>
                <a:r>
                  <a:rPr lang="en-IN" b="1" baseline="0"/>
                  <a:t> Engagement Rate</a:t>
                </a:r>
                <a:endParaRPr lang="en-IN" b="1"/>
              </a:p>
            </c:rich>
          </c:tx>
          <c:layout>
            <c:manualLayout>
              <c:xMode val="edge"/>
              <c:yMode val="edge"/>
              <c:x val="0.41540193357903332"/>
              <c:y val="0.92131768431223793"/>
            </c:manualLayout>
          </c:layout>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IN"/>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940159648"/>
        <c:crosses val="autoZero"/>
        <c:crossBetween val="between"/>
      </c:valAx>
      <c:spPr>
        <a:noFill/>
        <a:ln>
          <a:noFill/>
        </a:ln>
        <a:effectLst/>
      </c:spPr>
    </c:plotArea>
    <c:plotVisOnly val="1"/>
    <c:dispBlanksAs val="gap"/>
    <c:showDLblsOverMax val="0"/>
    <c:extLst>
      <c:ext uri="{0b15fc19-7d7d-44ad-8c2d-2c3a37ce22c3}">
        <chartProps xmlns="https://web.wps.cn/et/2018/main" chartId="{969b906f-bbf6-41d1-8900-8a8a51ccdf33}"/>
      </c:ext>
    </c:extLst>
  </c:chart>
  <c:spPr>
    <a:noFill/>
    <a:ln>
      <a:noFill/>
    </a:ln>
    <a:effectLst/>
  </c:spPr>
  <c:txPr>
    <a:bodyPr/>
    <a:lstStyle/>
    <a:p>
      <a:pPr>
        <a:defRPr lang="en-US"/>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 DATASET&amp;ALL-1.xlsx]HASHTAG ANALYSIS!PivotTable8</c:name>
    <c:fmtId val="-1"/>
  </c:pivotSource>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b="1">
                <a:solidFill>
                  <a:schemeClr val="accent1"/>
                </a:solidFill>
              </a:rPr>
              <a:t>Top</a:t>
            </a:r>
            <a:r>
              <a:rPr lang="en-US" b="1" baseline="0">
                <a:solidFill>
                  <a:schemeClr val="accent1"/>
                </a:solidFill>
              </a:rPr>
              <a:t> 10 Hashtags by No. of Posts</a:t>
            </a:r>
            <a:endParaRPr lang="en-US" b="1">
              <a:solidFill>
                <a:schemeClr val="accent1"/>
              </a:solidFill>
            </a:endParaRPr>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5497231791338602"/>
          <c:y val="0.19052447391444499"/>
          <c:w val="0.61638184875328095"/>
          <c:h val="0.70731162990591101"/>
        </c:manualLayout>
      </c:layout>
      <c:barChart>
        <c:barDir val="bar"/>
        <c:grouping val="clustered"/>
        <c:varyColors val="0"/>
        <c:ser>
          <c:idx val="0"/>
          <c:order val="0"/>
          <c:tx>
            <c:strRef>
              <c:f>'HASHTAG ANALYSIS'!$B$22</c:f>
              <c:strCache>
                <c:ptCount val="1"/>
                <c:pt idx="0">
                  <c:v>Total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'HASHTAG ANALYSIS'!$A$23:$A$33</c:f>
              <c:strCache>
                <c:ptCount val="10"/>
                <c:pt idx="0">
                  <c:v>#Challenge</c:v>
                </c:pt>
                <c:pt idx="1">
                  <c:v>#Education</c:v>
                </c:pt>
                <c:pt idx="2">
                  <c:v>#Dance</c:v>
                </c:pt>
                <c:pt idx="3">
                  <c:v>#Fitness</c:v>
                </c:pt>
                <c:pt idx="4">
                  <c:v>#Tech</c:v>
                </c:pt>
                <c:pt idx="5">
                  <c:v>#Fashion</c:v>
                </c:pt>
                <c:pt idx="6">
                  <c:v>#Comedy</c:v>
                </c:pt>
                <c:pt idx="7">
                  <c:v>#Viral</c:v>
                </c:pt>
                <c:pt idx="8">
                  <c:v>#Music</c:v>
                </c:pt>
                <c:pt idx="9">
                  <c:v>#Gaming</c:v>
                </c:pt>
              </c:strCache>
            </c:strRef>
          </c:cat>
          <c:val>
            <c:numRef>
              <c:f>'HASHTAG ANALYSIS'!$B$23:$B$33</c:f>
              <c:numCache>
                <c:formatCode>General</c:formatCode>
                <c:ptCount val="10"/>
                <c:pt idx="0">
                  <c:v>140</c:v>
                </c:pt>
                <c:pt idx="1">
                  <c:v>138</c:v>
                </c:pt>
                <c:pt idx="2">
                  <c:v>133</c:v>
                </c:pt>
                <c:pt idx="3">
                  <c:v>128</c:v>
                </c:pt>
                <c:pt idx="4">
                  <c:v>127</c:v>
                </c:pt>
                <c:pt idx="5">
                  <c:v>121</c:v>
                </c:pt>
                <c:pt idx="6">
                  <c:v>119</c:v>
                </c:pt>
                <c:pt idx="7">
                  <c:v>119</c:v>
                </c:pt>
                <c:pt idx="8">
                  <c:v>118</c:v>
                </c:pt>
                <c:pt idx="9">
                  <c:v>107</c:v>
                </c:pt>
              </c:numCache>
            </c:numRef>
          </c:val>
          <c:extLst>
            <c:ext xmlns:c16="http://schemas.microsoft.com/office/drawing/2014/chart" uri="{C3380CC4-5D6E-409C-BE32-E72D297353CC}">
              <c16:uniqueId val="{00000000-D7B4-4B6D-8F29-EDF051A8C312}"/>
            </c:ext>
          </c:extLst>
        </c:ser>
        <c:dLbls>
          <c:showLegendKey val="0"/>
          <c:showVal val="1"/>
          <c:showCatName val="0"/>
          <c:showSerName val="0"/>
          <c:showPercent val="0"/>
          <c:showBubbleSize val="0"/>
        </c:dLbls>
        <c:gapWidth val="182"/>
        <c:axId val="1940177888"/>
        <c:axId val="1940175968"/>
      </c:barChart>
      <c:catAx>
        <c:axId val="1940177888"/>
        <c:scaling>
          <c:orientation val="minMax"/>
        </c:scaling>
        <c:delete val="0"/>
        <c:axPos val="l"/>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IN" b="1"/>
                  <a:t>Hashtag</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accent1"/>
                </a:solidFill>
                <a:latin typeface="+mn-lt"/>
                <a:ea typeface="+mn-ea"/>
                <a:cs typeface="+mn-cs"/>
              </a:defRPr>
            </a:pPr>
            <a:endParaRPr lang="en-US"/>
          </a:p>
        </c:txPr>
        <c:crossAx val="1940175968"/>
        <c:crosses val="autoZero"/>
        <c:auto val="1"/>
        <c:lblAlgn val="ctr"/>
        <c:lblOffset val="100"/>
        <c:noMultiLvlLbl val="0"/>
      </c:catAx>
      <c:valAx>
        <c:axId val="1940175968"/>
        <c:scaling>
          <c:orientation val="minMax"/>
        </c:scaling>
        <c:delete val="1"/>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IN" b="1"/>
                  <a:t>No.</a:t>
                </a:r>
                <a:r>
                  <a:rPr lang="en-IN" b="1" baseline="0"/>
                  <a:t> of Posts</a:t>
                </a:r>
                <a:endParaRPr lang="en-IN" b="1"/>
              </a:p>
            </c:rich>
          </c:tx>
          <c:layout>
            <c:manualLayout>
              <c:xMode val="edge"/>
              <c:yMode val="edge"/>
              <c:x val="0.52373616424405856"/>
              <c:y val="0.93013258729478299"/>
            </c:manualLayout>
          </c:layout>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1940177888"/>
        <c:crosses val="autoZero"/>
        <c:crossBetween val="between"/>
      </c:valAx>
      <c:spPr>
        <a:noFill/>
        <a:ln>
          <a:noFill/>
        </a:ln>
        <a:effectLst/>
      </c:spPr>
    </c:plotArea>
    <c:plotVisOnly val="1"/>
    <c:dispBlanksAs val="gap"/>
    <c:showDLblsOverMax val="0"/>
    <c:extLst>
      <c:ext uri="{0b15fc19-7d7d-44ad-8c2d-2c3a37ce22c3}">
        <chartProps xmlns="https://web.wps.cn/et/2018/main" chartId="{602e86bc-4324-4c37-a412-6cc81a1f8ece}"/>
      </c:ext>
    </c:extLst>
  </c:chart>
  <c:spPr>
    <a:noFill/>
    <a:ln>
      <a:noFill/>
    </a:ln>
    <a:effectLst/>
  </c:spPr>
  <c:txPr>
    <a:bodyPr/>
    <a:lstStyle/>
    <a:p>
      <a:pPr>
        <a:defRPr lang="en-US"/>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 DATASET&amp;ALL-1.xlsx]REGION ANALYSIS!PivotTable2</c:name>
    <c:fmtId val="-1"/>
  </c:pivotSource>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b="1">
                <a:solidFill>
                  <a:schemeClr val="accent1"/>
                </a:solidFill>
              </a:rPr>
              <a:t>Total</a:t>
            </a:r>
            <a:r>
              <a:rPr lang="en-US" b="1" baseline="0">
                <a:solidFill>
                  <a:schemeClr val="accent1"/>
                </a:solidFill>
              </a:rPr>
              <a:t> Views by Region</a:t>
            </a:r>
            <a:endParaRPr lang="en-US" b="1">
              <a:solidFill>
                <a:schemeClr val="accent1"/>
              </a:solidFill>
            </a:endParaRPr>
          </a:p>
        </c:rich>
      </c:tx>
      <c:layout>
        <c:manualLayout>
          <c:xMode val="edge"/>
          <c:yMode val="edge"/>
          <c:x val="0.11412408970258721"/>
          <c:y val="3.1591580675579413E-2"/>
        </c:manualLayout>
      </c:layout>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'REGION ANALYSIS'!$B$21</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004-4023-8027-10C53C78B4B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004-4023-8027-10C53C78B4B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004-4023-8027-10C53C78B4B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004-4023-8027-10C53C78B4B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1004-4023-8027-10C53C78B4B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1004-4023-8027-10C53C78B4B6}"/>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1004-4023-8027-10C53C78B4B6}"/>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1004-4023-8027-10C53C78B4B6}"/>
              </c:ext>
            </c:extLst>
          </c:dPt>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'REGION ANALYSIS'!$A$22:$A$30</c:f>
              <c:strCache>
                <c:ptCount val="8"/>
                <c:pt idx="0">
                  <c:v>Australia</c:v>
                </c:pt>
                <c:pt idx="1">
                  <c:v>Brazil</c:v>
                </c:pt>
                <c:pt idx="2">
                  <c:v>Canada</c:v>
                </c:pt>
                <c:pt idx="3">
                  <c:v>Germany</c:v>
                </c:pt>
                <c:pt idx="4">
                  <c:v>India</c:v>
                </c:pt>
                <c:pt idx="5">
                  <c:v>Japan</c:v>
                </c:pt>
                <c:pt idx="6">
                  <c:v>UK</c:v>
                </c:pt>
                <c:pt idx="7">
                  <c:v>USA</c:v>
                </c:pt>
              </c:strCache>
            </c:strRef>
          </c:cat>
          <c:val>
            <c:numRef>
              <c:f>'REGION ANALYSIS'!$B$22:$B$30</c:f>
              <c:numCache>
                <c:formatCode>General</c:formatCode>
                <c:ptCount val="8"/>
                <c:pt idx="0">
                  <c:v>410682697</c:v>
                </c:pt>
                <c:pt idx="1">
                  <c:v>432760531</c:v>
                </c:pt>
                <c:pt idx="2">
                  <c:v>426970294</c:v>
                </c:pt>
                <c:pt idx="3">
                  <c:v>397394102</c:v>
                </c:pt>
                <c:pt idx="4">
                  <c:v>389117554</c:v>
                </c:pt>
                <c:pt idx="5">
                  <c:v>340846408</c:v>
                </c:pt>
                <c:pt idx="6">
                  <c:v>464936524</c:v>
                </c:pt>
                <c:pt idx="7">
                  <c:v>493033543</c:v>
                </c:pt>
              </c:numCache>
            </c:numRef>
          </c:val>
          <c:extLst>
            <c:ext xmlns:c16="http://schemas.microsoft.com/office/drawing/2014/chart" uri="{C3380CC4-5D6E-409C-BE32-E72D297353CC}">
              <c16:uniqueId val="{00000010-1004-4023-8027-10C53C78B4B6}"/>
            </c:ext>
          </c:extLst>
        </c:ser>
        <c:dLbls>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0b15fc19-7d7d-44ad-8c2d-2c3a37ce22c3}">
        <chartProps xmlns="https://web.wps.cn/et/2018/main" chartId="{d40ffda0-13d2-4788-9550-ea30a9928f56}"/>
      </c:ext>
    </c:extLst>
  </c:chart>
  <c:spPr>
    <a:noFill/>
    <a:ln>
      <a:noFill/>
    </a:ln>
    <a:effectLst/>
  </c:spPr>
  <c:txPr>
    <a:bodyPr/>
    <a:lstStyle/>
    <a:p>
      <a:pPr>
        <a:defRPr lang="en-US"/>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0.00156</cdr:x>
      <cdr:y>0.87368</cdr:y>
    </cdr:from>
    <cdr:to>
      <cdr:x>0.78867</cdr:x>
      <cdr:y>0.99225</cdr:y>
    </cdr:to>
    <cdr:sp macro="" textlink="">
      <cdr:nvSpPr>
        <cdr:cNvPr id="2" name="Rectangle 1"/>
        <cdr:cNvSpPr/>
      </cdr:nvSpPr>
      <cdr:spPr>
        <a:xfrm xmlns:a="http://schemas.openxmlformats.org/drawingml/2006/main" rot="10800000" flipV="1">
          <a:off x="7618" y="2846068"/>
          <a:ext cx="3838577" cy="38622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dirty="0"/>
            <a:t>                </a:t>
          </a:r>
        </a:p>
      </cdr:txBody>
    </cdr:sp>
  </cdr:relSizeAnchor>
</c:userShapes>
</file>

<file path=ppt/drawings/drawing2.xml><?xml version="1.0" encoding="utf-8"?>
<c:userShapes xmlns:c="http://schemas.openxmlformats.org/drawingml/2006/chart">
  <cdr:relSizeAnchor xmlns:cdr="http://schemas.openxmlformats.org/drawingml/2006/chartDrawing">
    <cdr:from>
      <cdr:x>0.56763</cdr:x>
      <cdr:y>0.02456</cdr:y>
    </cdr:from>
    <cdr:to>
      <cdr:x>0.98504</cdr:x>
      <cdr:y>0.28947</cdr:y>
    </cdr:to>
    <cdr:sp macro="" textlink="">
      <cdr:nvSpPr>
        <cdr:cNvPr id="2" name="Rectangle 1"/>
        <cdr:cNvSpPr/>
      </cdr:nvSpPr>
      <cdr:spPr>
        <a:xfrm xmlns:a="http://schemas.openxmlformats.org/drawingml/2006/main">
          <a:off x="2746059" y="66676"/>
          <a:ext cx="2019300" cy="7191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a:t>USA has most total Region views when compared to other countries</a:t>
          </a:r>
        </a:p>
      </cdr:txBody>
    </cdr:sp>
  </cdr:relSizeAnchor>
</c:userShap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384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26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0910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0976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2418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5737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7585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75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1739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818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9263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4037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8666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177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1039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0033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6366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694449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556181" y="1530350"/>
            <a:ext cx="8031638" cy="3905885"/>
          </a:xfrm>
          <a:prstGeom prst="rect">
            <a:avLst/>
          </a:prstGeom>
        </p:spPr>
      </p:pic>
      <p:sp>
        <p:nvSpPr>
          <p:cNvPr id="10" name="Text Box 9"/>
          <p:cNvSpPr txBox="1"/>
          <p:nvPr/>
        </p:nvSpPr>
        <p:spPr>
          <a:xfrm>
            <a:off x="1925955" y="750570"/>
            <a:ext cx="6282055" cy="605790"/>
          </a:xfrm>
          <a:prstGeom prst="rect">
            <a:avLst/>
          </a:prstGeom>
          <a:noFill/>
        </p:spPr>
        <p:txBody>
          <a:bodyPr wrap="square" rtlCol="0">
            <a:noAutofit/>
          </a:bodyPr>
          <a:lstStyle/>
          <a:p>
            <a:r>
              <a:rPr lang="en-US" sz="3600" dirty="0">
                <a:sym typeface="+mn-ea"/>
              </a:rPr>
              <a:t>     </a:t>
            </a:r>
            <a:r>
              <a:rPr lang="en-US" sz="2800" b="1" dirty="0">
                <a:sym typeface="+mn-ea"/>
              </a:rPr>
              <a:t>Social Media Trends Analysis</a:t>
            </a:r>
          </a:p>
        </p:txBody>
      </p:sp>
      <p:sp>
        <p:nvSpPr>
          <p:cNvPr id="11" name="Text Box 10"/>
          <p:cNvSpPr txBox="1"/>
          <p:nvPr/>
        </p:nvSpPr>
        <p:spPr>
          <a:xfrm>
            <a:off x="4572000" y="5438413"/>
            <a:ext cx="4134740" cy="646331"/>
          </a:xfrm>
          <a:prstGeom prst="rect">
            <a:avLst/>
          </a:prstGeom>
          <a:noFill/>
        </p:spPr>
        <p:txBody>
          <a:bodyPr wrap="square" rtlCol="0" anchor="t">
            <a:spAutoFit/>
          </a:bodyPr>
          <a:lstStyle/>
          <a:p>
            <a:r>
              <a:rPr b="1" dirty="0">
                <a:latin typeface="Times New Roman" panose="02020603050405020304" pitchFamily="18" charset="0"/>
                <a:cs typeface="Times New Roman" panose="02020603050405020304" pitchFamily="18" charset="0"/>
                <a:sym typeface="+mn-ea"/>
              </a:rPr>
              <a:t>Prepared By</a:t>
            </a:r>
            <a:r>
              <a:rPr dirty="0">
                <a:latin typeface="Times New Roman" panose="02020603050405020304" pitchFamily="18" charset="0"/>
                <a:cs typeface="Times New Roman" panose="02020603050405020304" pitchFamily="18" charset="0"/>
                <a:sym typeface="+mn-ea"/>
              </a:rPr>
              <a:t>: Harshit Pandey</a:t>
            </a:r>
            <a:r>
              <a:rPr lang="en-US" dirty="0">
                <a:latin typeface="Times New Roman" panose="02020603050405020304" pitchFamily="18" charset="0"/>
                <a:cs typeface="Times New Roman" panose="02020603050405020304" pitchFamily="18" charset="0"/>
                <a:sym typeface="+mn-ea"/>
              </a:rPr>
              <a:t> and Geetha</a:t>
            </a:r>
          </a:p>
          <a:p>
            <a:r>
              <a:rPr lang="en-US" b="1" dirty="0">
                <a:latin typeface="Times New Roman" panose="02020603050405020304" pitchFamily="18" charset="0"/>
                <a:cs typeface="Times New Roman" panose="02020603050405020304" pitchFamily="18" charset="0"/>
                <a:sym typeface="+mn-ea"/>
              </a:rPr>
              <a:t>Mentor</a:t>
            </a:r>
            <a:r>
              <a:rPr lang="en-US" dirty="0">
                <a:latin typeface="Times New Roman" panose="02020603050405020304" pitchFamily="18" charset="0"/>
                <a:cs typeface="Times New Roman" panose="02020603050405020304" pitchFamily="18" charset="0"/>
                <a:sym typeface="+mn-ea"/>
              </a:rPr>
              <a:t>: Valli Natarajan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2559" y="903480"/>
            <a:ext cx="2658882" cy="1303867"/>
          </a:xfrm>
        </p:spPr>
        <p:txBody>
          <a:bodyPr>
            <a:normAutofit fontScale="90000"/>
          </a:bodyPr>
          <a:lstStyle/>
          <a:p>
            <a:r>
              <a:rPr b="1" dirty="0"/>
              <a:t>Introduction</a:t>
            </a:r>
          </a:p>
        </p:txBody>
      </p:sp>
      <p:sp>
        <p:nvSpPr>
          <p:cNvPr id="3" name="Content Placeholder 2"/>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The “Viral Social Media Trends Analysis” project is developed using Microsoft Excel to analyze social media performance data from different platforms. The main purpose of this project is to identify trending content, engagement patterns, regional performance, and audience interaction through data visualization and dashboard analysis.</a:t>
            </a:r>
          </a:p>
          <a:p>
            <a:r>
              <a:rPr lang="en-US" dirty="0">
                <a:latin typeface="Times New Roman" panose="02020603050405020304" pitchFamily="18" charset="0"/>
                <a:cs typeface="Times New Roman" panose="02020603050405020304" pitchFamily="18" charset="0"/>
              </a:rPr>
              <a:t>In this project, raw social media data was cleaned, organized, and analyzed using various Excel features such as Pivot Tables, Charts, Conditional Formatting, Filters, Data Cleaning, and Dashboard Design. The dashboard provides insights into likes, shares, comments, engagement rates, hashtags, and platform-wise performance.</a:t>
            </a:r>
          </a:p>
          <a:p>
            <a:r>
              <a:rPr lang="en-US" dirty="0">
                <a:latin typeface="Times New Roman" panose="02020603050405020304" pitchFamily="18" charset="0"/>
                <a:cs typeface="Times New Roman" panose="02020603050405020304" pitchFamily="18" charset="0"/>
              </a:rPr>
              <a:t>This project helps in understanding how social media trends impact audience engagement and how businesses or content creators can improve their online performance by using data-driven decisions.</a:t>
            </a:r>
          </a:p>
          <a:p>
            <a:endParaRPr dirty="0"/>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sp>
        <p:nvSpPr>
          <p:cNvPr id="5" name="Rectangle 1">
            <a:extLst>
              <a:ext uri="{FF2B5EF4-FFF2-40B4-BE49-F238E27FC236}">
                <a16:creationId xmlns:a16="http://schemas.microsoft.com/office/drawing/2014/main" id="{B0A0EC28-8E4F-7B23-5DBF-57F7DE6FD41C}"/>
              </a:ext>
            </a:extLst>
          </p:cNvPr>
          <p:cNvSpPr>
            <a:spLocks noGrp="1" noChangeArrowheads="1"/>
          </p:cNvSpPr>
          <p:nvPr>
            <p:ph idx="1"/>
          </p:nvPr>
        </p:nvSpPr>
        <p:spPr bwMode="auto">
          <a:xfrm>
            <a:off x="1092024" y="2837785"/>
            <a:ext cx="757104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viral social media trends using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audience engagement across different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top-performing hashtags and content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compare regional and monthly engagement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an interactive dashboard for easy data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perform data cleaning and remove inconsistencies from the dataset.</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Dataset Overview</a:t>
            </a:r>
          </a:p>
        </p:txBody>
      </p:sp>
      <p:sp>
        <p:nvSpPr>
          <p:cNvPr id="3" name="Content Placeholder 2"/>
          <p:cNvSpPr>
            <a:spLocks noGrp="1"/>
          </p:cNvSpPr>
          <p:nvPr>
            <p:ph idx="1"/>
          </p:nvPr>
        </p:nvSpPr>
        <p:spPr/>
        <p:txBody>
          <a:bodyPr>
            <a:normAutofit fontScale="85000" lnSpcReduction="20000"/>
          </a:bodyPr>
          <a:lstStyle/>
          <a:p>
            <a:pPr marL="0" indent="0">
              <a:buNone/>
            </a:pPr>
            <a:r>
              <a:rPr b="1" dirty="0"/>
              <a:t>Dataset includes</a:t>
            </a:r>
            <a:r>
              <a:rPr dirty="0"/>
              <a:t>:</a:t>
            </a:r>
            <a:endParaRPr lang="en-US" dirty="0"/>
          </a:p>
          <a:p>
            <a:r>
              <a:rPr lang="en-US" dirty="0">
                <a:latin typeface="Times New Roman" panose="02020603050405020304" pitchFamily="18" charset="0"/>
                <a:cs typeface="Times New Roman" panose="02020603050405020304" pitchFamily="18" charset="0"/>
              </a:rPr>
              <a:t>Post_Date</a:t>
            </a:r>
            <a:endParaRPr dirty="0">
              <a:latin typeface="Times New Roman" panose="02020603050405020304" pitchFamily="18" charset="0"/>
              <a:cs typeface="Times New Roman" panose="02020603050405020304" pitchFamily="18" charset="0"/>
            </a:endParaRPr>
          </a:p>
          <a:p>
            <a:pPr marL="0" indent="0">
              <a:buNone/>
            </a:pPr>
            <a:r>
              <a:rPr dirty="0">
                <a:latin typeface="Times New Roman" panose="02020603050405020304" pitchFamily="18" charset="0"/>
                <a:cs typeface="Times New Roman" panose="02020603050405020304" pitchFamily="18" charset="0"/>
              </a:rPr>
              <a:t>• Platform</a:t>
            </a:r>
          </a:p>
          <a:p>
            <a:pPr marL="0" indent="0">
              <a:buNone/>
            </a:pPr>
            <a:r>
              <a:rPr dirty="0">
                <a:latin typeface="Times New Roman" panose="02020603050405020304" pitchFamily="18" charset="0"/>
                <a:cs typeface="Times New Roman" panose="02020603050405020304" pitchFamily="18" charset="0"/>
              </a:rPr>
              <a:t>• Likes</a:t>
            </a:r>
          </a:p>
          <a:p>
            <a:pPr marL="0" indent="0">
              <a:buNone/>
            </a:pPr>
            <a:r>
              <a:rPr dirty="0">
                <a:latin typeface="Times New Roman" panose="02020603050405020304" pitchFamily="18" charset="0"/>
                <a:cs typeface="Times New Roman" panose="02020603050405020304" pitchFamily="18" charset="0"/>
              </a:rPr>
              <a:t>• Shares</a:t>
            </a:r>
          </a:p>
          <a:p>
            <a:pPr marL="0" indent="0">
              <a:buNone/>
            </a:pPr>
            <a:r>
              <a:rPr dirty="0">
                <a:latin typeface="Times New Roman" panose="02020603050405020304" pitchFamily="18" charset="0"/>
                <a:cs typeface="Times New Roman" panose="02020603050405020304" pitchFamily="18" charset="0"/>
              </a:rPr>
              <a:t>• Comments</a:t>
            </a:r>
          </a:p>
          <a:p>
            <a:pPr marL="0" indent="0">
              <a:buNone/>
            </a:pPr>
            <a:r>
              <a:rPr dirty="0">
                <a:latin typeface="Times New Roman" panose="02020603050405020304" pitchFamily="18" charset="0"/>
                <a:cs typeface="Times New Roman" panose="02020603050405020304" pitchFamily="18" charset="0"/>
              </a:rPr>
              <a:t>• Views</a:t>
            </a:r>
          </a:p>
          <a:p>
            <a:pPr marL="0" indent="0">
              <a:buNone/>
            </a:pPr>
            <a:r>
              <a:rPr dirty="0">
                <a:latin typeface="Times New Roman" panose="02020603050405020304" pitchFamily="18" charset="0"/>
                <a:cs typeface="Times New Roman" panose="02020603050405020304" pitchFamily="18" charset="0"/>
              </a:rPr>
              <a:t>• Engagement Rate</a:t>
            </a:r>
          </a:p>
          <a:p>
            <a:pPr marL="0" indent="0">
              <a:buNone/>
            </a:pPr>
            <a:r>
              <a:rPr dirty="0">
                <a:latin typeface="Times New Roman" panose="02020603050405020304" pitchFamily="18" charset="0"/>
                <a:cs typeface="Times New Roman" panose="02020603050405020304" pitchFamily="18" charset="0"/>
              </a:rPr>
              <a:t>• Region</a:t>
            </a: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mn-lt"/>
                <a:cs typeface="Times New Roman" panose="02020603050405020304" pitchFamily="18" charset="0"/>
              </a:rPr>
              <a:t>Tools &amp; Technologies</a:t>
            </a: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sp>
        <p:nvSpPr>
          <p:cNvPr id="5" name="Rectangle 1">
            <a:extLst>
              <a:ext uri="{FF2B5EF4-FFF2-40B4-BE49-F238E27FC236}">
                <a16:creationId xmlns:a16="http://schemas.microsoft.com/office/drawing/2014/main" id="{8B7FC8B0-D84F-85C4-AA6E-AC8A9E4BEC8B}"/>
              </a:ext>
            </a:extLst>
          </p:cNvPr>
          <p:cNvSpPr>
            <a:spLocks noGrp="1" noChangeArrowheads="1"/>
          </p:cNvSpPr>
          <p:nvPr>
            <p:ph idx="1"/>
          </p:nvPr>
        </p:nvSpPr>
        <p:spPr bwMode="auto">
          <a:xfrm>
            <a:off x="1176865" y="2689139"/>
            <a:ext cx="352551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Pivot Tables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Pivot Charts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Slicers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Conditional Formatting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Formulas and Functions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 Cleaning Process</a:t>
            </a:r>
          </a:p>
        </p:txBody>
      </p:sp>
      <p:sp>
        <p:nvSpPr>
          <p:cNvPr id="3" name="Content Placeholder 2"/>
          <p:cNvSpPr>
            <a:spLocks noGrp="1"/>
          </p:cNvSpPr>
          <p:nvPr>
            <p:ph idx="1"/>
          </p:nvPr>
        </p:nvSpPr>
        <p:spPr/>
        <p:txBody>
          <a:bodyPr/>
          <a:lstStyle/>
          <a:p>
            <a:r>
              <a:t>Handled missing values, duplicate records, formatting issues, and prepared the dataset for analysis.</a:t>
            </a: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Platform Analysis</a:t>
            </a:r>
          </a:p>
        </p:txBody>
      </p:sp>
      <p:sp>
        <p:nvSpPr>
          <p:cNvPr id="3" name="Content Placeholder 2"/>
          <p:cNvSpPr>
            <a:spLocks noGrp="1"/>
          </p:cNvSpPr>
          <p:nvPr>
            <p:ph idx="1"/>
          </p:nvPr>
        </p:nvSpPr>
        <p:spPr>
          <a:xfrm>
            <a:off x="1176864" y="2490135"/>
            <a:ext cx="7401527" cy="3444997"/>
          </a:xfrm>
        </p:spPr>
        <p:txBody>
          <a:bodyPr/>
          <a:lstStyle/>
          <a:p>
            <a:r>
              <a:rPr sz="1800" dirty="0"/>
              <a:t>Compared social media platforms such as Instagram, YouTube, TikTok, and Twitter</a:t>
            </a:r>
            <a:r>
              <a:rPr dirty="0"/>
              <a:t>.</a:t>
            </a:r>
          </a:p>
          <a:p>
            <a:endParaRPr dirty="0"/>
          </a:p>
          <a:p>
            <a:endParaRPr dirty="0"/>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graphicFrame>
        <p:nvGraphicFramePr>
          <p:cNvPr id="5" name="Table 4"/>
          <p:cNvGraphicFramePr/>
          <p:nvPr>
            <p:extLst>
              <p:ext uri="{D42A27DB-BD31-4B8C-83A1-F6EECF244321}">
                <p14:modId xmlns:p14="http://schemas.microsoft.com/office/powerpoint/2010/main" val="302775623"/>
              </p:ext>
            </p:extLst>
          </p:nvPr>
        </p:nvGraphicFramePr>
        <p:xfrm>
          <a:off x="2431371" y="2999393"/>
          <a:ext cx="5213767" cy="1047750"/>
        </p:xfrm>
        <a:graphic>
          <a:graphicData uri="http://schemas.openxmlformats.org/drawingml/2006/table">
            <a:tbl>
              <a:tblPr/>
              <a:tblGrid>
                <a:gridCol w="2148610">
                  <a:extLst>
                    <a:ext uri="{9D8B030D-6E8A-4147-A177-3AD203B41FA5}">
                      <a16:colId xmlns:a16="http://schemas.microsoft.com/office/drawing/2014/main" val="20000"/>
                    </a:ext>
                  </a:extLst>
                </a:gridCol>
                <a:gridCol w="3065157">
                  <a:extLst>
                    <a:ext uri="{9D8B030D-6E8A-4147-A177-3AD203B41FA5}">
                      <a16:colId xmlns:a16="http://schemas.microsoft.com/office/drawing/2014/main" val="20001"/>
                    </a:ext>
                  </a:extLst>
                </a:gridCol>
              </a:tblGrid>
              <a:tr h="174625">
                <a:tc>
                  <a:txBody>
                    <a:bodyPr/>
                    <a:lstStyle/>
                    <a:p>
                      <a:pPr algn="l" fontAlgn="b"/>
                      <a:r>
                        <a:rPr sz="1100" b="1" i="0" u="none">
                          <a:solidFill>
                            <a:srgbClr val="000000"/>
                          </a:solidFill>
                          <a:latin typeface="Calibri" panose="020F0502020204030204"/>
                          <a:ea typeface="Calibri" panose="020F0502020204030204"/>
                        </a:rPr>
                        <a:t>Platform</a:t>
                      </a:r>
                    </a:p>
                  </a:txBody>
                  <a:tcPr marL="5080" marR="5080" marT="5080" marB="0" anchor="b">
                    <a:lnL>
                      <a:noFill/>
                    </a:lnL>
                    <a:lnR>
                      <a:noFill/>
                    </a:lnR>
                    <a:lnT>
                      <a:noFill/>
                    </a:lnT>
                    <a:lnB w="6350" cap="flat" cmpd="sng">
                      <a:solidFill>
                        <a:srgbClr val="8EA9DB"/>
                      </a:solidFill>
                      <a:prstDash val="solid"/>
                      <a:headEnd type="none" w="med" len="med"/>
                      <a:tailEnd type="none" w="med" len="med"/>
                    </a:lnB>
                    <a:solidFill>
                      <a:srgbClr val="D9E1F2"/>
                    </a:solidFill>
                  </a:tcPr>
                </a:tc>
                <a:tc>
                  <a:txBody>
                    <a:bodyPr/>
                    <a:lstStyle/>
                    <a:p>
                      <a:pPr algn="l" fontAlgn="b"/>
                      <a:r>
                        <a:rPr sz="1100" b="1" i="0" u="none">
                          <a:solidFill>
                            <a:srgbClr val="000000"/>
                          </a:solidFill>
                          <a:latin typeface="Calibri" panose="020F0502020204030204"/>
                          <a:ea typeface="Calibri" panose="020F0502020204030204"/>
                        </a:rPr>
                        <a:t>Average of Views</a:t>
                      </a:r>
                    </a:p>
                  </a:txBody>
                  <a:tcPr marL="5080" marR="5080" marT="5080" marB="0" anchor="b">
                    <a:lnL>
                      <a:noFill/>
                    </a:lnL>
                    <a:lnR>
                      <a:noFill/>
                    </a:lnR>
                    <a:lnT>
                      <a:noFill/>
                    </a:lnT>
                    <a:lnB w="6350" cap="flat" cmpd="sng">
                      <a:solidFill>
                        <a:srgbClr val="8EA9DB"/>
                      </a:solidFill>
                      <a:prstDash val="solid"/>
                      <a:headEnd type="none" w="med" len="med"/>
                      <a:tailEnd type="none" w="med" len="med"/>
                    </a:lnB>
                    <a:solidFill>
                      <a:srgbClr val="D9E1F2"/>
                    </a:solidFill>
                  </a:tcPr>
                </a:tc>
                <a:extLst>
                  <a:ext uri="{0D108BD9-81ED-4DB2-BD59-A6C34878D82A}">
                    <a16:rowId xmlns:a16="http://schemas.microsoft.com/office/drawing/2014/main" val="10000"/>
                  </a:ext>
                </a:extLst>
              </a:tr>
              <a:tr h="174625">
                <a:tc>
                  <a:txBody>
                    <a:bodyPr/>
                    <a:lstStyle/>
                    <a:p>
                      <a:pPr algn="l" fontAlgn="b"/>
                      <a:r>
                        <a:rPr sz="1100" b="0" i="0">
                          <a:solidFill>
                            <a:srgbClr val="000000"/>
                          </a:solidFill>
                          <a:latin typeface="Calibri" panose="020F0502020204030204"/>
                          <a:ea typeface="Calibri" panose="020F0502020204030204"/>
                        </a:rPr>
                        <a:t>Instagram</a:t>
                      </a:r>
                    </a:p>
                  </a:txBody>
                  <a:tcPr marL="5080" marR="5080" marT="5080" marB="0" anchor="b">
                    <a:lnL>
                      <a:noFill/>
                    </a:lnL>
                    <a:lnR>
                      <a:noFill/>
                    </a:lnR>
                    <a:lnT w="6350" cap="flat" cmpd="sng">
                      <a:solidFill>
                        <a:srgbClr val="8EA9DB"/>
                      </a:solidFill>
                      <a:prstDash val="solid"/>
                      <a:headEnd type="none" w="med" len="med"/>
                      <a:tailEnd type="none" w="med" len="med"/>
                    </a:lnT>
                    <a:lnB>
                      <a:noFill/>
                    </a:lnB>
                    <a:noFill/>
                  </a:tcPr>
                </a:tc>
                <a:tc>
                  <a:txBody>
                    <a:bodyPr/>
                    <a:lstStyle/>
                    <a:p>
                      <a:pPr algn="r" fontAlgn="b"/>
                      <a:r>
                        <a:rPr sz="1100" b="0" i="0" dirty="0">
                          <a:solidFill>
                            <a:srgbClr val="000000"/>
                          </a:solidFill>
                          <a:latin typeface="Calibri" panose="020F0502020204030204"/>
                          <a:ea typeface="Calibri" panose="020F0502020204030204"/>
                        </a:rPr>
                        <a:t>2527459</a:t>
                      </a:r>
                    </a:p>
                  </a:txBody>
                  <a:tcPr marL="5080" marR="5080" marT="5080" marB="0" anchor="b">
                    <a:lnL>
                      <a:noFill/>
                    </a:lnL>
                    <a:lnR>
                      <a:noFill/>
                    </a:lnR>
                    <a:lnT w="6350" cap="flat" cmpd="sng">
                      <a:solidFill>
                        <a:srgbClr val="8EA9DB"/>
                      </a:solidFill>
                      <a:prstDash val="solid"/>
                      <a:headEnd type="none" w="med" len="med"/>
                      <a:tailEnd type="none" w="med" len="med"/>
                    </a:lnT>
                    <a:lnB>
                      <a:noFill/>
                    </a:lnB>
                    <a:noFill/>
                  </a:tcPr>
                </a:tc>
                <a:extLst>
                  <a:ext uri="{0D108BD9-81ED-4DB2-BD59-A6C34878D82A}">
                    <a16:rowId xmlns:a16="http://schemas.microsoft.com/office/drawing/2014/main" val="10001"/>
                  </a:ext>
                </a:extLst>
              </a:tr>
              <a:tr h="174625">
                <a:tc>
                  <a:txBody>
                    <a:bodyPr/>
                    <a:lstStyle/>
                    <a:p>
                      <a:pPr algn="l" fontAlgn="b"/>
                      <a:r>
                        <a:rPr sz="1100" b="0" i="0">
                          <a:solidFill>
                            <a:srgbClr val="000000"/>
                          </a:solidFill>
                          <a:latin typeface="Calibri" panose="020F0502020204030204"/>
                          <a:ea typeface="Calibri" panose="020F0502020204030204"/>
                        </a:rPr>
                        <a:t>TikTok</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2146542</a:t>
                      </a:r>
                    </a:p>
                  </a:txBody>
                  <a:tcPr marL="5080" marR="5080" marT="5080" marB="0" anchor="b">
                    <a:lnL>
                      <a:noFill/>
                    </a:lnL>
                    <a:lnR>
                      <a:noFill/>
                    </a:lnR>
                    <a:lnT>
                      <a:noFill/>
                    </a:lnT>
                    <a:lnB>
                      <a:noFill/>
                    </a:lnB>
                    <a:noFill/>
                  </a:tcPr>
                </a:tc>
                <a:extLst>
                  <a:ext uri="{0D108BD9-81ED-4DB2-BD59-A6C34878D82A}">
                    <a16:rowId xmlns:a16="http://schemas.microsoft.com/office/drawing/2014/main" val="10002"/>
                  </a:ext>
                </a:extLst>
              </a:tr>
              <a:tr h="174625">
                <a:tc>
                  <a:txBody>
                    <a:bodyPr/>
                    <a:lstStyle/>
                    <a:p>
                      <a:pPr algn="l" fontAlgn="b"/>
                      <a:r>
                        <a:rPr sz="1100" b="0" i="0">
                          <a:solidFill>
                            <a:srgbClr val="000000"/>
                          </a:solidFill>
                          <a:latin typeface="Calibri" panose="020F0502020204030204"/>
                          <a:ea typeface="Calibri" panose="020F0502020204030204"/>
                        </a:rPr>
                        <a:t>Twitter</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2758539</a:t>
                      </a:r>
                    </a:p>
                  </a:txBody>
                  <a:tcPr marL="5080" marR="5080" marT="5080" marB="0" anchor="b">
                    <a:lnL>
                      <a:noFill/>
                    </a:lnL>
                    <a:lnR>
                      <a:noFill/>
                    </a:lnR>
                    <a:lnT>
                      <a:noFill/>
                    </a:lnT>
                    <a:lnB>
                      <a:noFill/>
                    </a:lnB>
                    <a:noFill/>
                  </a:tcPr>
                </a:tc>
                <a:extLst>
                  <a:ext uri="{0D108BD9-81ED-4DB2-BD59-A6C34878D82A}">
                    <a16:rowId xmlns:a16="http://schemas.microsoft.com/office/drawing/2014/main" val="10003"/>
                  </a:ext>
                </a:extLst>
              </a:tr>
              <a:tr h="174625">
                <a:tc>
                  <a:txBody>
                    <a:bodyPr/>
                    <a:lstStyle/>
                    <a:p>
                      <a:pPr algn="l" fontAlgn="b"/>
                      <a:r>
                        <a:rPr sz="1100" b="0" i="0">
                          <a:solidFill>
                            <a:srgbClr val="000000"/>
                          </a:solidFill>
                          <a:latin typeface="Calibri" panose="020F0502020204030204"/>
                          <a:ea typeface="Calibri" panose="020F0502020204030204"/>
                        </a:rPr>
                        <a:t>YouTube</a:t>
                      </a:r>
                    </a:p>
                  </a:txBody>
                  <a:tcPr marL="5080" marR="5080" marT="5080" marB="0" anchor="b">
                    <a:lnL>
                      <a:noFill/>
                    </a:lnL>
                    <a:lnR>
                      <a:noFill/>
                    </a:lnR>
                    <a:lnT>
                      <a:noFill/>
                    </a:lnT>
                    <a:lnB w="6350" cap="flat" cmpd="sng">
                      <a:solidFill>
                        <a:srgbClr val="8EA9DB"/>
                      </a:solidFill>
                      <a:prstDash val="solid"/>
                      <a:headEnd type="none" w="med" len="med"/>
                      <a:tailEnd type="none" w="med" len="med"/>
                    </a:lnB>
                    <a:noFill/>
                  </a:tcPr>
                </a:tc>
                <a:tc>
                  <a:txBody>
                    <a:bodyPr/>
                    <a:lstStyle/>
                    <a:p>
                      <a:pPr algn="r" fontAlgn="b"/>
                      <a:r>
                        <a:rPr sz="1100" b="0" i="0" dirty="0">
                          <a:solidFill>
                            <a:srgbClr val="000000"/>
                          </a:solidFill>
                          <a:latin typeface="Calibri" panose="020F0502020204030204"/>
                          <a:ea typeface="Calibri" panose="020F0502020204030204"/>
                        </a:rPr>
                        <a:t>29722</a:t>
                      </a:r>
                    </a:p>
                  </a:txBody>
                  <a:tcPr marL="5080" marR="5080" marT="5080" marB="0" anchor="b">
                    <a:lnL>
                      <a:noFill/>
                    </a:lnL>
                    <a:lnR>
                      <a:noFill/>
                    </a:lnR>
                    <a:lnT>
                      <a:noFill/>
                    </a:lnT>
                    <a:lnB w="6350" cap="flat" cmpd="sng">
                      <a:solidFill>
                        <a:srgbClr val="8EA9DB"/>
                      </a:solidFill>
                      <a:prstDash val="solid"/>
                      <a:headEnd type="none" w="med" len="med"/>
                      <a:tailEnd type="none" w="med" len="med"/>
                    </a:lnB>
                    <a:noFill/>
                  </a:tcPr>
                </a:tc>
                <a:extLst>
                  <a:ext uri="{0D108BD9-81ED-4DB2-BD59-A6C34878D82A}">
                    <a16:rowId xmlns:a16="http://schemas.microsoft.com/office/drawing/2014/main" val="10004"/>
                  </a:ext>
                </a:extLst>
              </a:tr>
              <a:tr h="174625">
                <a:tc>
                  <a:txBody>
                    <a:bodyPr/>
                    <a:lstStyle/>
                    <a:p>
                      <a:pPr algn="l" fontAlgn="b"/>
                      <a:r>
                        <a:rPr sz="1100" b="1" i="0" u="none">
                          <a:solidFill>
                            <a:srgbClr val="000000"/>
                          </a:solidFill>
                          <a:latin typeface="Calibri" panose="020F0502020204030204"/>
                          <a:ea typeface="Calibri" panose="020F0502020204030204"/>
                        </a:rPr>
                        <a:t>Grand Total</a:t>
                      </a:r>
                    </a:p>
                  </a:txBody>
                  <a:tcPr marL="5080" marR="5080" marT="5080" marB="0" anchor="b">
                    <a:lnL>
                      <a:noFill/>
                    </a:lnL>
                    <a:lnR>
                      <a:noFill/>
                    </a:lnR>
                    <a:lnT w="6350" cap="flat" cmpd="sng">
                      <a:solidFill>
                        <a:srgbClr val="8EA9DB"/>
                      </a:solidFill>
                      <a:prstDash val="solid"/>
                      <a:headEnd type="none" w="med" len="med"/>
                      <a:tailEnd type="none" w="med" len="med"/>
                    </a:lnT>
                    <a:lnB>
                      <a:noFill/>
                    </a:lnB>
                    <a:solidFill>
                      <a:srgbClr val="D9E1F2"/>
                    </a:solidFill>
                  </a:tcPr>
                </a:tc>
                <a:tc>
                  <a:txBody>
                    <a:bodyPr/>
                    <a:lstStyle/>
                    <a:p>
                      <a:pPr algn="r" fontAlgn="b"/>
                      <a:r>
                        <a:rPr sz="1100" b="1" i="0" u="none" dirty="0">
                          <a:solidFill>
                            <a:srgbClr val="000000"/>
                          </a:solidFill>
                          <a:latin typeface="Calibri" panose="020F0502020204030204"/>
                          <a:ea typeface="Calibri" panose="020F0502020204030204"/>
                        </a:rPr>
                        <a:t>2479652</a:t>
                      </a:r>
                    </a:p>
                  </a:txBody>
                  <a:tcPr marL="5080" marR="5080" marT="5080" marB="0" anchor="b">
                    <a:lnL>
                      <a:noFill/>
                    </a:lnL>
                    <a:lnR>
                      <a:noFill/>
                    </a:lnR>
                    <a:lnT w="6350" cap="flat" cmpd="sng">
                      <a:solidFill>
                        <a:srgbClr val="8EA9DB"/>
                      </a:solidFill>
                      <a:prstDash val="solid"/>
                      <a:headEnd type="none" w="med" len="med"/>
                      <a:tailEnd type="none" w="med" len="med"/>
                    </a:lnT>
                    <a:lnB>
                      <a:noFill/>
                    </a:lnB>
                    <a:solidFill>
                      <a:srgbClr val="D9E1F2"/>
                    </a:solidFill>
                  </a:tcPr>
                </a:tc>
                <a:extLst>
                  <a:ext uri="{0D108BD9-81ED-4DB2-BD59-A6C34878D82A}">
                    <a16:rowId xmlns:a16="http://schemas.microsoft.com/office/drawing/2014/main" val="10005"/>
                  </a:ext>
                </a:extLst>
              </a:tr>
            </a:tbl>
          </a:graphicData>
        </a:graphic>
      </p:graphicFrame>
      <p:graphicFrame>
        <p:nvGraphicFramePr>
          <p:cNvPr id="6" name="Chart 5">
            <a:extLst>
              <a:ext uri="{FF2B5EF4-FFF2-40B4-BE49-F238E27FC236}">
                <a16:creationId xmlns:a16="http://schemas.microsoft.com/office/drawing/2014/main" id="{56FAC5A3-C08A-48DB-D75E-D099BDC14B5A}"/>
              </a:ext>
            </a:extLst>
          </p:cNvPr>
          <p:cNvGraphicFramePr>
            <a:graphicFrameLocks/>
          </p:cNvGraphicFramePr>
          <p:nvPr>
            <p:extLst>
              <p:ext uri="{D42A27DB-BD31-4B8C-83A1-F6EECF244321}">
                <p14:modId xmlns:p14="http://schemas.microsoft.com/office/powerpoint/2010/main" val="2835668753"/>
              </p:ext>
            </p:extLst>
          </p:nvPr>
        </p:nvGraphicFramePr>
        <p:xfrm>
          <a:off x="1649691" y="4047142"/>
          <a:ext cx="6928700" cy="217077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Content Type Analysis</a:t>
            </a:r>
          </a:p>
        </p:txBody>
      </p:sp>
      <p:sp>
        <p:nvSpPr>
          <p:cNvPr id="3" name="Content Placeholder 2"/>
          <p:cNvSpPr>
            <a:spLocks noGrp="1"/>
          </p:cNvSpPr>
          <p:nvPr>
            <p:ph idx="1"/>
          </p:nvPr>
        </p:nvSpPr>
        <p:spPr/>
        <p:txBody>
          <a:bodyPr/>
          <a:lstStyle/>
          <a:p>
            <a:r>
              <a:t>Analyzed performance of videos, reels, images, and other content formats.</a:t>
            </a:r>
          </a:p>
          <a:p>
            <a:endParaRP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graphicFrame>
        <p:nvGraphicFramePr>
          <p:cNvPr id="5" name="Table 4"/>
          <p:cNvGraphicFramePr/>
          <p:nvPr>
            <p:extLst>
              <p:ext uri="{D42A27DB-BD31-4B8C-83A1-F6EECF244321}">
                <p14:modId xmlns:p14="http://schemas.microsoft.com/office/powerpoint/2010/main" val="1370102686"/>
              </p:ext>
            </p:extLst>
          </p:nvPr>
        </p:nvGraphicFramePr>
        <p:xfrm>
          <a:off x="733877" y="3272275"/>
          <a:ext cx="3325495" cy="2751455"/>
        </p:xfrm>
        <a:graphic>
          <a:graphicData uri="http://schemas.openxmlformats.org/drawingml/2006/table">
            <a:tbl>
              <a:tblPr/>
              <a:tblGrid>
                <a:gridCol w="1190625">
                  <a:extLst>
                    <a:ext uri="{9D8B030D-6E8A-4147-A177-3AD203B41FA5}">
                      <a16:colId xmlns:a16="http://schemas.microsoft.com/office/drawing/2014/main" val="20000"/>
                    </a:ext>
                  </a:extLst>
                </a:gridCol>
                <a:gridCol w="2134870">
                  <a:extLst>
                    <a:ext uri="{9D8B030D-6E8A-4147-A177-3AD203B41FA5}">
                      <a16:colId xmlns:a16="http://schemas.microsoft.com/office/drawing/2014/main" val="20001"/>
                    </a:ext>
                  </a:extLst>
                </a:gridCol>
              </a:tblGrid>
              <a:tr h="435488">
                <a:tc>
                  <a:txBody>
                    <a:bodyPr/>
                    <a:lstStyle/>
                    <a:p>
                      <a:pPr algn="l" fontAlgn="b"/>
                      <a:r>
                        <a:rPr sz="1100" b="1" i="0" u="none">
                          <a:solidFill>
                            <a:srgbClr val="000000"/>
                          </a:solidFill>
                          <a:latin typeface="Calibri" panose="020F0502020204030204"/>
                          <a:ea typeface="Calibri" panose="020F0502020204030204"/>
                        </a:rPr>
                        <a:t>Content Type</a:t>
                      </a:r>
                    </a:p>
                  </a:txBody>
                  <a:tcPr marL="5080" marR="5080" marT="5080" marB="0" anchor="b">
                    <a:lnL>
                      <a:noFill/>
                    </a:lnL>
                    <a:lnR>
                      <a:noFill/>
                    </a:lnR>
                    <a:lnT>
                      <a:noFill/>
                    </a:lnT>
                    <a:lnB w="6350" cap="flat" cmpd="sng">
                      <a:solidFill>
                        <a:srgbClr val="8EA9DB"/>
                      </a:solidFill>
                      <a:prstDash val="solid"/>
                      <a:headEnd type="none" w="med" len="med"/>
                      <a:tailEnd type="none" w="med" len="med"/>
                    </a:lnB>
                    <a:solidFill>
                      <a:srgbClr val="D9E1F2"/>
                    </a:solidFill>
                  </a:tcPr>
                </a:tc>
                <a:tc>
                  <a:txBody>
                    <a:bodyPr/>
                    <a:lstStyle/>
                    <a:p>
                      <a:pPr algn="l" fontAlgn="b"/>
                      <a:r>
                        <a:rPr sz="1100" b="1" i="0" u="none" dirty="0">
                          <a:solidFill>
                            <a:srgbClr val="000000"/>
                          </a:solidFill>
                          <a:latin typeface="Calibri" panose="020F0502020204030204"/>
                          <a:ea typeface="Calibri" panose="020F0502020204030204"/>
                        </a:rPr>
                        <a:t>Average of Engagement Rate</a:t>
                      </a:r>
                    </a:p>
                  </a:txBody>
                  <a:tcPr marL="5080" marR="5080" marT="5080" marB="0" anchor="b">
                    <a:lnL>
                      <a:noFill/>
                    </a:lnL>
                    <a:lnR>
                      <a:noFill/>
                    </a:lnR>
                    <a:lnT>
                      <a:noFill/>
                    </a:lnT>
                    <a:lnB w="6350" cap="flat" cmpd="sng">
                      <a:solidFill>
                        <a:srgbClr val="8EA9DB"/>
                      </a:solidFill>
                      <a:prstDash val="solid"/>
                      <a:headEnd type="none" w="med" len="med"/>
                      <a:tailEnd type="none" w="med" len="med"/>
                    </a:lnB>
                    <a:solidFill>
                      <a:srgbClr val="D9E1F2"/>
                    </a:solidFill>
                  </a:tcPr>
                </a:tc>
                <a:extLst>
                  <a:ext uri="{0D108BD9-81ED-4DB2-BD59-A6C34878D82A}">
                    <a16:rowId xmlns:a16="http://schemas.microsoft.com/office/drawing/2014/main" val="10000"/>
                  </a:ext>
                </a:extLst>
              </a:tr>
              <a:tr h="312722">
                <a:tc>
                  <a:txBody>
                    <a:bodyPr/>
                    <a:lstStyle/>
                    <a:p>
                      <a:pPr algn="l" fontAlgn="b"/>
                      <a:r>
                        <a:rPr sz="1100" b="0" i="0">
                          <a:solidFill>
                            <a:srgbClr val="000000"/>
                          </a:solidFill>
                          <a:latin typeface="Calibri" panose="020F0502020204030204"/>
                          <a:ea typeface="Calibri" panose="020F0502020204030204"/>
                        </a:rPr>
                        <a:t>Live Stream</a:t>
                      </a:r>
                    </a:p>
                  </a:txBody>
                  <a:tcPr marL="5080" marR="5080" marT="5080" marB="0" anchor="b">
                    <a:lnL>
                      <a:noFill/>
                    </a:lnL>
                    <a:lnR>
                      <a:noFill/>
                    </a:lnR>
                    <a:lnT w="6350" cap="flat" cmpd="sng">
                      <a:solidFill>
                        <a:srgbClr val="8EA9DB"/>
                      </a:solidFill>
                      <a:prstDash val="solid"/>
                      <a:headEnd type="none" w="med" len="med"/>
                      <a:tailEnd type="none" w="med" len="med"/>
                    </a:lnT>
                    <a:lnB>
                      <a:noFill/>
                    </a:lnB>
                    <a:noFill/>
                  </a:tcPr>
                </a:tc>
                <a:tc>
                  <a:txBody>
                    <a:bodyPr/>
                    <a:lstStyle/>
                    <a:p>
                      <a:pPr algn="r" fontAlgn="b"/>
                      <a:r>
                        <a:rPr sz="1100" b="0" i="0">
                          <a:solidFill>
                            <a:srgbClr val="000000"/>
                          </a:solidFill>
                          <a:latin typeface="Calibri" panose="020F0502020204030204"/>
                          <a:ea typeface="Calibri" panose="020F0502020204030204"/>
                        </a:rPr>
                        <a:t>18.95%</a:t>
                      </a:r>
                    </a:p>
                  </a:txBody>
                  <a:tcPr marL="5080" marR="5080" marT="5080" marB="0" anchor="b">
                    <a:lnL>
                      <a:noFill/>
                    </a:lnL>
                    <a:lnR>
                      <a:noFill/>
                    </a:lnR>
                    <a:lnT w="6350" cap="flat" cmpd="sng">
                      <a:solidFill>
                        <a:srgbClr val="8EA9DB"/>
                      </a:solidFill>
                      <a:prstDash val="solid"/>
                      <a:headEnd type="none" w="med" len="med"/>
                      <a:tailEnd type="none" w="med" len="med"/>
                    </a:lnT>
                    <a:lnB>
                      <a:noFill/>
                    </a:lnB>
                    <a:noFill/>
                  </a:tcPr>
                </a:tc>
                <a:extLst>
                  <a:ext uri="{0D108BD9-81ED-4DB2-BD59-A6C34878D82A}">
                    <a16:rowId xmlns:a16="http://schemas.microsoft.com/office/drawing/2014/main" val="10001"/>
                  </a:ext>
                </a:extLst>
              </a:tr>
              <a:tr h="314381">
                <a:tc>
                  <a:txBody>
                    <a:bodyPr/>
                    <a:lstStyle/>
                    <a:p>
                      <a:pPr algn="l" fontAlgn="b"/>
                      <a:r>
                        <a:rPr sz="1100" b="0" i="0">
                          <a:solidFill>
                            <a:srgbClr val="000000"/>
                          </a:solidFill>
                          <a:latin typeface="Calibri" panose="020F0502020204030204"/>
                          <a:ea typeface="Calibri" panose="020F0502020204030204"/>
                        </a:rPr>
                        <a:t>Post</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19.92%</a:t>
                      </a:r>
                    </a:p>
                  </a:txBody>
                  <a:tcPr marL="5080" marR="5080" marT="5080" marB="0" anchor="b">
                    <a:lnL>
                      <a:noFill/>
                    </a:lnL>
                    <a:lnR>
                      <a:noFill/>
                    </a:lnR>
                    <a:lnT>
                      <a:noFill/>
                    </a:lnT>
                    <a:lnB>
                      <a:noFill/>
                    </a:lnB>
                    <a:noFill/>
                  </a:tcPr>
                </a:tc>
                <a:extLst>
                  <a:ext uri="{0D108BD9-81ED-4DB2-BD59-A6C34878D82A}">
                    <a16:rowId xmlns:a16="http://schemas.microsoft.com/office/drawing/2014/main" val="10002"/>
                  </a:ext>
                </a:extLst>
              </a:tr>
              <a:tr h="313551">
                <a:tc>
                  <a:txBody>
                    <a:bodyPr/>
                    <a:lstStyle/>
                    <a:p>
                      <a:pPr algn="l" fontAlgn="b"/>
                      <a:r>
                        <a:rPr sz="1100" b="0" i="0">
                          <a:solidFill>
                            <a:srgbClr val="000000"/>
                          </a:solidFill>
                          <a:latin typeface="Calibri" panose="020F0502020204030204"/>
                          <a:ea typeface="Calibri" panose="020F0502020204030204"/>
                        </a:rPr>
                        <a:t>Reel</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16.24%</a:t>
                      </a:r>
                    </a:p>
                  </a:txBody>
                  <a:tcPr marL="5080" marR="5080" marT="5080" marB="0" anchor="b">
                    <a:lnL>
                      <a:noFill/>
                    </a:lnL>
                    <a:lnR>
                      <a:noFill/>
                    </a:lnR>
                    <a:lnT>
                      <a:noFill/>
                    </a:lnT>
                    <a:lnB>
                      <a:noFill/>
                    </a:lnB>
                    <a:noFill/>
                  </a:tcPr>
                </a:tc>
                <a:extLst>
                  <a:ext uri="{0D108BD9-81ED-4DB2-BD59-A6C34878D82A}">
                    <a16:rowId xmlns:a16="http://schemas.microsoft.com/office/drawing/2014/main" val="10003"/>
                  </a:ext>
                </a:extLst>
              </a:tr>
              <a:tr h="312722">
                <a:tc>
                  <a:txBody>
                    <a:bodyPr/>
                    <a:lstStyle/>
                    <a:p>
                      <a:pPr algn="l" fontAlgn="b"/>
                      <a:r>
                        <a:rPr sz="1100" b="0" i="0">
                          <a:solidFill>
                            <a:srgbClr val="000000"/>
                          </a:solidFill>
                          <a:latin typeface="Calibri" panose="020F0502020204030204"/>
                          <a:ea typeface="Calibri" panose="020F0502020204030204"/>
                        </a:rPr>
                        <a:t>Shorts</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19.58%</a:t>
                      </a:r>
                    </a:p>
                  </a:txBody>
                  <a:tcPr marL="5080" marR="5080" marT="5080" marB="0" anchor="b">
                    <a:lnL>
                      <a:noFill/>
                    </a:lnL>
                    <a:lnR>
                      <a:noFill/>
                    </a:lnR>
                    <a:lnT>
                      <a:noFill/>
                    </a:lnT>
                    <a:lnB>
                      <a:noFill/>
                    </a:lnB>
                    <a:noFill/>
                  </a:tcPr>
                </a:tc>
                <a:extLst>
                  <a:ext uri="{0D108BD9-81ED-4DB2-BD59-A6C34878D82A}">
                    <a16:rowId xmlns:a16="http://schemas.microsoft.com/office/drawing/2014/main" val="10004"/>
                  </a:ext>
                </a:extLst>
              </a:tr>
              <a:tr h="314381">
                <a:tc>
                  <a:txBody>
                    <a:bodyPr/>
                    <a:lstStyle/>
                    <a:p>
                      <a:pPr algn="l" fontAlgn="b"/>
                      <a:r>
                        <a:rPr sz="1100" b="0" i="0">
                          <a:solidFill>
                            <a:srgbClr val="000000"/>
                          </a:solidFill>
                          <a:latin typeface="Calibri" panose="020F0502020204030204"/>
                          <a:ea typeface="Calibri" panose="020F0502020204030204"/>
                        </a:rPr>
                        <a:t>Tweet</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18.92%</a:t>
                      </a:r>
                    </a:p>
                  </a:txBody>
                  <a:tcPr marL="5080" marR="5080" marT="5080" marB="0" anchor="b">
                    <a:lnL>
                      <a:noFill/>
                    </a:lnL>
                    <a:lnR>
                      <a:noFill/>
                    </a:lnR>
                    <a:lnT>
                      <a:noFill/>
                    </a:lnT>
                    <a:lnB>
                      <a:noFill/>
                    </a:lnB>
                    <a:noFill/>
                  </a:tcPr>
                </a:tc>
                <a:extLst>
                  <a:ext uri="{0D108BD9-81ED-4DB2-BD59-A6C34878D82A}">
                    <a16:rowId xmlns:a16="http://schemas.microsoft.com/office/drawing/2014/main" val="10005"/>
                  </a:ext>
                </a:extLst>
              </a:tr>
              <a:tr h="312722">
                <a:tc>
                  <a:txBody>
                    <a:bodyPr/>
                    <a:lstStyle/>
                    <a:p>
                      <a:pPr algn="l" fontAlgn="b"/>
                      <a:r>
                        <a:rPr sz="1100" b="0" i="0">
                          <a:solidFill>
                            <a:srgbClr val="000000"/>
                          </a:solidFill>
                          <a:latin typeface="Calibri" panose="020F0502020204030204"/>
                          <a:ea typeface="Calibri" panose="020F0502020204030204"/>
                        </a:rPr>
                        <a:t>Video</a:t>
                      </a:r>
                    </a:p>
                  </a:txBody>
                  <a:tcPr marL="5080" marR="5080" marT="5080" marB="0" anchor="b">
                    <a:lnL>
                      <a:noFill/>
                    </a:lnL>
                    <a:lnR>
                      <a:noFill/>
                    </a:lnR>
                    <a:lnT>
                      <a:noFill/>
                    </a:lnT>
                    <a:lnB w="6350" cap="flat" cmpd="sng">
                      <a:solidFill>
                        <a:srgbClr val="8EA9DB"/>
                      </a:solidFill>
                      <a:prstDash val="solid"/>
                      <a:headEnd type="none" w="med" len="med"/>
                      <a:tailEnd type="none" w="med" len="med"/>
                    </a:lnB>
                    <a:noFill/>
                  </a:tcPr>
                </a:tc>
                <a:tc>
                  <a:txBody>
                    <a:bodyPr/>
                    <a:lstStyle/>
                    <a:p>
                      <a:pPr algn="r" fontAlgn="b"/>
                      <a:r>
                        <a:rPr sz="1100" b="0" i="0">
                          <a:solidFill>
                            <a:srgbClr val="000000"/>
                          </a:solidFill>
                          <a:latin typeface="Calibri" panose="020F0502020204030204"/>
                          <a:ea typeface="Calibri" panose="020F0502020204030204"/>
                        </a:rPr>
                        <a:t>18.68%</a:t>
                      </a:r>
                    </a:p>
                  </a:txBody>
                  <a:tcPr marL="5080" marR="5080" marT="5080" marB="0" anchor="b">
                    <a:lnL>
                      <a:noFill/>
                    </a:lnL>
                    <a:lnR>
                      <a:noFill/>
                    </a:lnR>
                    <a:lnT>
                      <a:noFill/>
                    </a:lnT>
                    <a:lnB w="6350" cap="flat" cmpd="sng">
                      <a:solidFill>
                        <a:srgbClr val="8EA9DB"/>
                      </a:solidFill>
                      <a:prstDash val="solid"/>
                      <a:headEnd type="none" w="med" len="med"/>
                      <a:tailEnd type="none" w="med" len="med"/>
                    </a:lnB>
                    <a:noFill/>
                  </a:tcPr>
                </a:tc>
                <a:extLst>
                  <a:ext uri="{0D108BD9-81ED-4DB2-BD59-A6C34878D82A}">
                    <a16:rowId xmlns:a16="http://schemas.microsoft.com/office/drawing/2014/main" val="10006"/>
                  </a:ext>
                </a:extLst>
              </a:tr>
              <a:tr h="435488">
                <a:tc>
                  <a:txBody>
                    <a:bodyPr/>
                    <a:lstStyle/>
                    <a:p>
                      <a:pPr algn="l" fontAlgn="b"/>
                      <a:r>
                        <a:rPr sz="1100" b="1" i="0" u="none" dirty="0">
                          <a:solidFill>
                            <a:srgbClr val="000000"/>
                          </a:solidFill>
                          <a:latin typeface="Calibri" panose="020F0502020204030204"/>
                          <a:ea typeface="Calibri" panose="020F0502020204030204"/>
                        </a:rPr>
                        <a:t>Grand Total</a:t>
                      </a:r>
                    </a:p>
                  </a:txBody>
                  <a:tcPr marL="5080" marR="5080" marT="5080" marB="0" anchor="b">
                    <a:lnL>
                      <a:noFill/>
                    </a:lnL>
                    <a:lnR>
                      <a:noFill/>
                    </a:lnR>
                    <a:lnT w="6350" cap="flat" cmpd="sng">
                      <a:solidFill>
                        <a:srgbClr val="8EA9DB"/>
                      </a:solidFill>
                      <a:prstDash val="solid"/>
                      <a:headEnd type="none" w="med" len="med"/>
                      <a:tailEnd type="none" w="med" len="med"/>
                    </a:lnT>
                    <a:lnB>
                      <a:noFill/>
                    </a:lnB>
                    <a:solidFill>
                      <a:srgbClr val="D9E1F2"/>
                    </a:solidFill>
                  </a:tcPr>
                </a:tc>
                <a:tc>
                  <a:txBody>
                    <a:bodyPr/>
                    <a:lstStyle/>
                    <a:p>
                      <a:pPr algn="r" fontAlgn="b"/>
                      <a:r>
                        <a:rPr sz="1100" b="1" i="0" u="none" dirty="0">
                          <a:solidFill>
                            <a:srgbClr val="000000"/>
                          </a:solidFill>
                          <a:latin typeface="Calibri" panose="020F0502020204030204"/>
                          <a:ea typeface="Calibri" panose="020F0502020204030204"/>
                        </a:rPr>
                        <a:t>0.187391682</a:t>
                      </a:r>
                    </a:p>
                  </a:txBody>
                  <a:tcPr marL="5080" marR="5080" marT="5080" marB="0" anchor="b">
                    <a:lnL>
                      <a:noFill/>
                    </a:lnL>
                    <a:lnR>
                      <a:noFill/>
                    </a:lnR>
                    <a:lnT w="6350" cap="flat" cmpd="sng">
                      <a:solidFill>
                        <a:srgbClr val="8EA9DB"/>
                      </a:solidFill>
                      <a:prstDash val="solid"/>
                      <a:headEnd type="none" w="med" len="med"/>
                      <a:tailEnd type="none" w="med" len="med"/>
                    </a:lnT>
                    <a:lnB>
                      <a:noFill/>
                    </a:lnB>
                    <a:solidFill>
                      <a:srgbClr val="D9E1F2"/>
                    </a:solidFill>
                  </a:tcPr>
                </a:tc>
                <a:extLst>
                  <a:ext uri="{0D108BD9-81ED-4DB2-BD59-A6C34878D82A}">
                    <a16:rowId xmlns:a16="http://schemas.microsoft.com/office/drawing/2014/main" val="10007"/>
                  </a:ext>
                </a:extLst>
              </a:tr>
            </a:tbl>
          </a:graphicData>
        </a:graphic>
      </p:graphicFrame>
      <p:graphicFrame>
        <p:nvGraphicFramePr>
          <p:cNvPr id="8" name="Chart 7"/>
          <p:cNvGraphicFramePr/>
          <p:nvPr>
            <p:extLst>
              <p:ext uri="{D42A27DB-BD31-4B8C-83A1-F6EECF244321}">
                <p14:modId xmlns:p14="http://schemas.microsoft.com/office/powerpoint/2010/main" val="2070858013"/>
              </p:ext>
            </p:extLst>
          </p:nvPr>
        </p:nvGraphicFramePr>
        <p:xfrm>
          <a:off x="4213782" y="3036988"/>
          <a:ext cx="4392890" cy="318093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Hashtag Trend Analysis</a:t>
            </a:r>
          </a:p>
        </p:txBody>
      </p:sp>
      <p:sp>
        <p:nvSpPr>
          <p:cNvPr id="3" name="Content Placeholder 2"/>
          <p:cNvSpPr>
            <a:spLocks noGrp="1"/>
          </p:cNvSpPr>
          <p:nvPr>
            <p:ph idx="1"/>
          </p:nvPr>
        </p:nvSpPr>
        <p:spPr/>
        <p:txBody>
          <a:bodyPr/>
          <a:lstStyle/>
          <a:p>
            <a:r>
              <a:t>Identified trending hashtags and their impact on audience engagement.</a:t>
            </a:r>
          </a:p>
          <a:p>
            <a:endParaRP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graphicFrame>
        <p:nvGraphicFramePr>
          <p:cNvPr id="11" name="Chart 10"/>
          <p:cNvGraphicFramePr/>
          <p:nvPr>
            <p:extLst>
              <p:ext uri="{D42A27DB-BD31-4B8C-83A1-F6EECF244321}">
                <p14:modId xmlns:p14="http://schemas.microsoft.com/office/powerpoint/2010/main" val="2146046002"/>
              </p:ext>
            </p:extLst>
          </p:nvPr>
        </p:nvGraphicFramePr>
        <p:xfrm>
          <a:off x="1" y="3429000"/>
          <a:ext cx="8389856" cy="26593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Regional Analysis</a:t>
            </a:r>
          </a:p>
        </p:txBody>
      </p:sp>
      <p:sp>
        <p:nvSpPr>
          <p:cNvPr id="3" name="Content Placeholder 2"/>
          <p:cNvSpPr>
            <a:spLocks noGrp="1"/>
          </p:cNvSpPr>
          <p:nvPr>
            <p:ph idx="1"/>
          </p:nvPr>
        </p:nvSpPr>
        <p:spPr/>
        <p:txBody>
          <a:bodyPr/>
          <a:lstStyle/>
          <a:p>
            <a:r>
              <a:t>Compared engagement trends across different regions and audience groups.</a:t>
            </a:r>
          </a:p>
          <a:p>
            <a:endParaRPr/>
          </a:p>
          <a:p>
            <a:endParaRP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graphicFrame>
        <p:nvGraphicFramePr>
          <p:cNvPr id="7" name="Table 6"/>
          <p:cNvGraphicFramePr/>
          <p:nvPr>
            <p:extLst>
              <p:ext uri="{D42A27DB-BD31-4B8C-83A1-F6EECF244321}">
                <p14:modId xmlns:p14="http://schemas.microsoft.com/office/powerpoint/2010/main" val="3302187979"/>
              </p:ext>
            </p:extLst>
          </p:nvPr>
        </p:nvGraphicFramePr>
        <p:xfrm>
          <a:off x="749301" y="3428999"/>
          <a:ext cx="3436201" cy="2777060"/>
        </p:xfrm>
        <a:graphic>
          <a:graphicData uri="http://schemas.openxmlformats.org/drawingml/2006/table">
            <a:tbl>
              <a:tblPr/>
              <a:tblGrid>
                <a:gridCol w="1455613">
                  <a:extLst>
                    <a:ext uri="{9D8B030D-6E8A-4147-A177-3AD203B41FA5}">
                      <a16:colId xmlns:a16="http://schemas.microsoft.com/office/drawing/2014/main" val="20000"/>
                    </a:ext>
                  </a:extLst>
                </a:gridCol>
                <a:gridCol w="1980588">
                  <a:extLst>
                    <a:ext uri="{9D8B030D-6E8A-4147-A177-3AD203B41FA5}">
                      <a16:colId xmlns:a16="http://schemas.microsoft.com/office/drawing/2014/main" val="20001"/>
                    </a:ext>
                  </a:extLst>
                </a:gridCol>
              </a:tblGrid>
              <a:tr h="277706">
                <a:tc>
                  <a:txBody>
                    <a:bodyPr/>
                    <a:lstStyle/>
                    <a:p>
                      <a:pPr algn="l" fontAlgn="b"/>
                      <a:r>
                        <a:rPr sz="1100" b="1" i="0" u="none">
                          <a:solidFill>
                            <a:srgbClr val="000000"/>
                          </a:solidFill>
                          <a:latin typeface="Calibri" panose="020F0502020204030204"/>
                          <a:ea typeface="Calibri" panose="020F0502020204030204"/>
                        </a:rPr>
                        <a:t>Region</a:t>
                      </a:r>
                    </a:p>
                  </a:txBody>
                  <a:tcPr marL="5080" marR="5080" marT="5080" marB="0" anchor="b">
                    <a:lnL>
                      <a:noFill/>
                    </a:lnL>
                    <a:lnR>
                      <a:noFill/>
                    </a:lnR>
                    <a:lnT>
                      <a:noFill/>
                    </a:lnT>
                    <a:lnB w="6350" cap="flat" cmpd="sng">
                      <a:solidFill>
                        <a:srgbClr val="8EA9DB"/>
                      </a:solidFill>
                      <a:prstDash val="solid"/>
                      <a:headEnd type="none" w="med" len="med"/>
                      <a:tailEnd type="none" w="med" len="med"/>
                    </a:lnB>
                    <a:solidFill>
                      <a:srgbClr val="D9E1F2"/>
                    </a:solidFill>
                  </a:tcPr>
                </a:tc>
                <a:tc>
                  <a:txBody>
                    <a:bodyPr/>
                    <a:lstStyle/>
                    <a:p>
                      <a:pPr algn="l" fontAlgn="b"/>
                      <a:r>
                        <a:rPr sz="1100" b="1" i="0" u="none">
                          <a:solidFill>
                            <a:srgbClr val="000000"/>
                          </a:solidFill>
                          <a:latin typeface="Calibri" panose="020F0502020204030204"/>
                          <a:ea typeface="Calibri" panose="020F0502020204030204"/>
                        </a:rPr>
                        <a:t>Sum of Views</a:t>
                      </a:r>
                    </a:p>
                  </a:txBody>
                  <a:tcPr marL="5080" marR="5080" marT="5080" marB="0" anchor="b">
                    <a:lnL>
                      <a:noFill/>
                    </a:lnL>
                    <a:lnR>
                      <a:noFill/>
                    </a:lnR>
                    <a:lnT>
                      <a:noFill/>
                    </a:lnT>
                    <a:lnB w="6350" cap="flat" cmpd="sng">
                      <a:solidFill>
                        <a:srgbClr val="8EA9DB"/>
                      </a:solidFill>
                      <a:prstDash val="solid"/>
                      <a:headEnd type="none" w="med" len="med"/>
                      <a:tailEnd type="none" w="med" len="med"/>
                    </a:lnB>
                    <a:solidFill>
                      <a:srgbClr val="D9E1F2"/>
                    </a:solidFill>
                  </a:tcPr>
                </a:tc>
                <a:extLst>
                  <a:ext uri="{0D108BD9-81ED-4DB2-BD59-A6C34878D82A}">
                    <a16:rowId xmlns:a16="http://schemas.microsoft.com/office/drawing/2014/main" val="10000"/>
                  </a:ext>
                </a:extLst>
              </a:tr>
              <a:tr h="277706">
                <a:tc>
                  <a:txBody>
                    <a:bodyPr/>
                    <a:lstStyle/>
                    <a:p>
                      <a:pPr algn="l" fontAlgn="b"/>
                      <a:r>
                        <a:rPr sz="1100" b="0" i="0">
                          <a:solidFill>
                            <a:srgbClr val="000000"/>
                          </a:solidFill>
                          <a:latin typeface="Calibri" panose="020F0502020204030204"/>
                          <a:ea typeface="Calibri" panose="020F0502020204030204"/>
                        </a:rPr>
                        <a:t>Australia</a:t>
                      </a:r>
                    </a:p>
                  </a:txBody>
                  <a:tcPr marL="5080" marR="5080" marT="5080" marB="0" anchor="b">
                    <a:lnL>
                      <a:noFill/>
                    </a:lnL>
                    <a:lnR>
                      <a:noFill/>
                    </a:lnR>
                    <a:lnT w="6350" cap="flat" cmpd="sng">
                      <a:solidFill>
                        <a:srgbClr val="8EA9DB"/>
                      </a:solidFill>
                      <a:prstDash val="solid"/>
                      <a:headEnd type="none" w="med" len="med"/>
                      <a:tailEnd type="none" w="med" len="med"/>
                    </a:lnT>
                    <a:lnB>
                      <a:noFill/>
                    </a:lnB>
                    <a:noFill/>
                  </a:tcPr>
                </a:tc>
                <a:tc>
                  <a:txBody>
                    <a:bodyPr/>
                    <a:lstStyle/>
                    <a:p>
                      <a:pPr algn="r" fontAlgn="b"/>
                      <a:r>
                        <a:rPr sz="1100" b="0" i="0">
                          <a:solidFill>
                            <a:srgbClr val="000000"/>
                          </a:solidFill>
                          <a:latin typeface="Calibri" panose="020F0502020204030204"/>
                          <a:ea typeface="Calibri" panose="020F0502020204030204"/>
                        </a:rPr>
                        <a:t>410682697</a:t>
                      </a:r>
                    </a:p>
                  </a:txBody>
                  <a:tcPr marL="5080" marR="5080" marT="5080" marB="0" anchor="b">
                    <a:lnL>
                      <a:noFill/>
                    </a:lnL>
                    <a:lnR>
                      <a:noFill/>
                    </a:lnR>
                    <a:lnT w="6350" cap="flat" cmpd="sng">
                      <a:solidFill>
                        <a:srgbClr val="8EA9DB"/>
                      </a:solidFill>
                      <a:prstDash val="solid"/>
                      <a:headEnd type="none" w="med" len="med"/>
                      <a:tailEnd type="none" w="med" len="med"/>
                    </a:lnT>
                    <a:lnB>
                      <a:noFill/>
                    </a:lnB>
                    <a:noFill/>
                  </a:tcPr>
                </a:tc>
                <a:extLst>
                  <a:ext uri="{0D108BD9-81ED-4DB2-BD59-A6C34878D82A}">
                    <a16:rowId xmlns:a16="http://schemas.microsoft.com/office/drawing/2014/main" val="10001"/>
                  </a:ext>
                </a:extLst>
              </a:tr>
              <a:tr h="277706">
                <a:tc>
                  <a:txBody>
                    <a:bodyPr/>
                    <a:lstStyle/>
                    <a:p>
                      <a:pPr algn="l" fontAlgn="b"/>
                      <a:r>
                        <a:rPr sz="1100" b="0" i="0">
                          <a:solidFill>
                            <a:srgbClr val="000000"/>
                          </a:solidFill>
                          <a:latin typeface="Calibri" panose="020F0502020204030204"/>
                          <a:ea typeface="Calibri" panose="020F0502020204030204"/>
                        </a:rPr>
                        <a:t>Brazil</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432760531</a:t>
                      </a:r>
                    </a:p>
                  </a:txBody>
                  <a:tcPr marL="5080" marR="5080" marT="5080" marB="0" anchor="b">
                    <a:lnL>
                      <a:noFill/>
                    </a:lnL>
                    <a:lnR>
                      <a:noFill/>
                    </a:lnR>
                    <a:lnT>
                      <a:noFill/>
                    </a:lnT>
                    <a:lnB>
                      <a:noFill/>
                    </a:lnB>
                    <a:noFill/>
                  </a:tcPr>
                </a:tc>
                <a:extLst>
                  <a:ext uri="{0D108BD9-81ED-4DB2-BD59-A6C34878D82A}">
                    <a16:rowId xmlns:a16="http://schemas.microsoft.com/office/drawing/2014/main" val="10002"/>
                  </a:ext>
                </a:extLst>
              </a:tr>
              <a:tr h="277706">
                <a:tc>
                  <a:txBody>
                    <a:bodyPr/>
                    <a:lstStyle/>
                    <a:p>
                      <a:pPr algn="l" fontAlgn="b"/>
                      <a:r>
                        <a:rPr sz="1100" b="0" i="0">
                          <a:solidFill>
                            <a:srgbClr val="000000"/>
                          </a:solidFill>
                          <a:latin typeface="Calibri" panose="020F0502020204030204"/>
                          <a:ea typeface="Calibri" panose="020F0502020204030204"/>
                        </a:rPr>
                        <a:t>Canada</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426970294</a:t>
                      </a:r>
                    </a:p>
                  </a:txBody>
                  <a:tcPr marL="5080" marR="5080" marT="5080" marB="0" anchor="b">
                    <a:lnL>
                      <a:noFill/>
                    </a:lnL>
                    <a:lnR>
                      <a:noFill/>
                    </a:lnR>
                    <a:lnT>
                      <a:noFill/>
                    </a:lnT>
                    <a:lnB>
                      <a:noFill/>
                    </a:lnB>
                    <a:noFill/>
                  </a:tcPr>
                </a:tc>
                <a:extLst>
                  <a:ext uri="{0D108BD9-81ED-4DB2-BD59-A6C34878D82A}">
                    <a16:rowId xmlns:a16="http://schemas.microsoft.com/office/drawing/2014/main" val="10003"/>
                  </a:ext>
                </a:extLst>
              </a:tr>
              <a:tr h="277706">
                <a:tc>
                  <a:txBody>
                    <a:bodyPr/>
                    <a:lstStyle/>
                    <a:p>
                      <a:pPr algn="l" fontAlgn="b"/>
                      <a:r>
                        <a:rPr sz="1100" b="0" i="0">
                          <a:solidFill>
                            <a:srgbClr val="000000"/>
                          </a:solidFill>
                          <a:latin typeface="Calibri" panose="020F0502020204030204"/>
                          <a:ea typeface="Calibri" panose="020F0502020204030204"/>
                        </a:rPr>
                        <a:t>Germany</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397394102</a:t>
                      </a:r>
                    </a:p>
                  </a:txBody>
                  <a:tcPr marL="5080" marR="5080" marT="5080" marB="0" anchor="b">
                    <a:lnL>
                      <a:noFill/>
                    </a:lnL>
                    <a:lnR>
                      <a:noFill/>
                    </a:lnR>
                    <a:lnT>
                      <a:noFill/>
                    </a:lnT>
                    <a:lnB>
                      <a:noFill/>
                    </a:lnB>
                    <a:noFill/>
                  </a:tcPr>
                </a:tc>
                <a:extLst>
                  <a:ext uri="{0D108BD9-81ED-4DB2-BD59-A6C34878D82A}">
                    <a16:rowId xmlns:a16="http://schemas.microsoft.com/office/drawing/2014/main" val="10004"/>
                  </a:ext>
                </a:extLst>
              </a:tr>
              <a:tr h="277706">
                <a:tc>
                  <a:txBody>
                    <a:bodyPr/>
                    <a:lstStyle/>
                    <a:p>
                      <a:pPr algn="l" fontAlgn="b"/>
                      <a:r>
                        <a:rPr sz="1100" b="0" i="0">
                          <a:solidFill>
                            <a:srgbClr val="000000"/>
                          </a:solidFill>
                          <a:latin typeface="Calibri" panose="020F0502020204030204"/>
                          <a:ea typeface="Calibri" panose="020F0502020204030204"/>
                        </a:rPr>
                        <a:t>India</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389117554</a:t>
                      </a:r>
                    </a:p>
                  </a:txBody>
                  <a:tcPr marL="5080" marR="5080" marT="5080" marB="0" anchor="b">
                    <a:lnL>
                      <a:noFill/>
                    </a:lnL>
                    <a:lnR>
                      <a:noFill/>
                    </a:lnR>
                    <a:lnT>
                      <a:noFill/>
                    </a:lnT>
                    <a:lnB>
                      <a:noFill/>
                    </a:lnB>
                    <a:noFill/>
                  </a:tcPr>
                </a:tc>
                <a:extLst>
                  <a:ext uri="{0D108BD9-81ED-4DB2-BD59-A6C34878D82A}">
                    <a16:rowId xmlns:a16="http://schemas.microsoft.com/office/drawing/2014/main" val="10005"/>
                  </a:ext>
                </a:extLst>
              </a:tr>
              <a:tr h="277706">
                <a:tc>
                  <a:txBody>
                    <a:bodyPr/>
                    <a:lstStyle/>
                    <a:p>
                      <a:pPr algn="l" fontAlgn="b"/>
                      <a:r>
                        <a:rPr sz="1100" b="0" i="0">
                          <a:solidFill>
                            <a:srgbClr val="000000"/>
                          </a:solidFill>
                          <a:latin typeface="Calibri" panose="020F0502020204030204"/>
                          <a:ea typeface="Calibri" panose="020F0502020204030204"/>
                        </a:rPr>
                        <a:t>Japan</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340846408</a:t>
                      </a:r>
                    </a:p>
                  </a:txBody>
                  <a:tcPr marL="5080" marR="5080" marT="5080" marB="0" anchor="b">
                    <a:lnL>
                      <a:noFill/>
                    </a:lnL>
                    <a:lnR>
                      <a:noFill/>
                    </a:lnR>
                    <a:lnT>
                      <a:noFill/>
                    </a:lnT>
                    <a:lnB>
                      <a:noFill/>
                    </a:lnB>
                    <a:noFill/>
                  </a:tcPr>
                </a:tc>
                <a:extLst>
                  <a:ext uri="{0D108BD9-81ED-4DB2-BD59-A6C34878D82A}">
                    <a16:rowId xmlns:a16="http://schemas.microsoft.com/office/drawing/2014/main" val="10006"/>
                  </a:ext>
                </a:extLst>
              </a:tr>
              <a:tr h="277706">
                <a:tc>
                  <a:txBody>
                    <a:bodyPr/>
                    <a:lstStyle/>
                    <a:p>
                      <a:pPr algn="l" fontAlgn="b"/>
                      <a:r>
                        <a:rPr sz="1100" b="0" i="0">
                          <a:solidFill>
                            <a:srgbClr val="000000"/>
                          </a:solidFill>
                          <a:latin typeface="Calibri" panose="020F0502020204030204"/>
                          <a:ea typeface="Calibri" panose="020F0502020204030204"/>
                        </a:rPr>
                        <a:t>UK</a:t>
                      </a:r>
                    </a:p>
                  </a:txBody>
                  <a:tcPr marL="5080" marR="5080" marT="5080" marB="0" anchor="b">
                    <a:lnL>
                      <a:noFill/>
                    </a:lnL>
                    <a:lnR>
                      <a:noFill/>
                    </a:lnR>
                    <a:lnT>
                      <a:noFill/>
                    </a:lnT>
                    <a:lnB>
                      <a:noFill/>
                    </a:lnB>
                    <a:noFill/>
                  </a:tcPr>
                </a:tc>
                <a:tc>
                  <a:txBody>
                    <a:bodyPr/>
                    <a:lstStyle/>
                    <a:p>
                      <a:pPr algn="r" fontAlgn="b"/>
                      <a:r>
                        <a:rPr sz="1100" b="0" i="0">
                          <a:solidFill>
                            <a:srgbClr val="000000"/>
                          </a:solidFill>
                          <a:latin typeface="Calibri" panose="020F0502020204030204"/>
                          <a:ea typeface="Calibri" panose="020F0502020204030204"/>
                        </a:rPr>
                        <a:t>464936524</a:t>
                      </a:r>
                    </a:p>
                  </a:txBody>
                  <a:tcPr marL="5080" marR="5080" marT="5080" marB="0" anchor="b">
                    <a:lnL>
                      <a:noFill/>
                    </a:lnL>
                    <a:lnR>
                      <a:noFill/>
                    </a:lnR>
                    <a:lnT>
                      <a:noFill/>
                    </a:lnT>
                    <a:lnB>
                      <a:noFill/>
                    </a:lnB>
                    <a:noFill/>
                  </a:tcPr>
                </a:tc>
                <a:extLst>
                  <a:ext uri="{0D108BD9-81ED-4DB2-BD59-A6C34878D82A}">
                    <a16:rowId xmlns:a16="http://schemas.microsoft.com/office/drawing/2014/main" val="10007"/>
                  </a:ext>
                </a:extLst>
              </a:tr>
              <a:tr h="277706">
                <a:tc>
                  <a:txBody>
                    <a:bodyPr/>
                    <a:lstStyle/>
                    <a:p>
                      <a:pPr algn="l" fontAlgn="b"/>
                      <a:r>
                        <a:rPr sz="1100" b="0" i="0">
                          <a:solidFill>
                            <a:srgbClr val="000000"/>
                          </a:solidFill>
                          <a:latin typeface="Calibri" panose="020F0502020204030204"/>
                          <a:ea typeface="Calibri" panose="020F0502020204030204"/>
                        </a:rPr>
                        <a:t>USA</a:t>
                      </a:r>
                    </a:p>
                  </a:txBody>
                  <a:tcPr marL="5080" marR="5080" marT="5080" marB="0" anchor="b">
                    <a:lnL>
                      <a:noFill/>
                    </a:lnL>
                    <a:lnR>
                      <a:noFill/>
                    </a:lnR>
                    <a:lnT>
                      <a:noFill/>
                    </a:lnT>
                    <a:lnB w="6350" cap="flat" cmpd="sng">
                      <a:solidFill>
                        <a:srgbClr val="8EA9DB"/>
                      </a:solidFill>
                      <a:prstDash val="solid"/>
                      <a:headEnd type="none" w="med" len="med"/>
                      <a:tailEnd type="none" w="med" len="med"/>
                    </a:lnB>
                    <a:noFill/>
                  </a:tcPr>
                </a:tc>
                <a:tc>
                  <a:txBody>
                    <a:bodyPr/>
                    <a:lstStyle/>
                    <a:p>
                      <a:pPr algn="r" fontAlgn="b"/>
                      <a:r>
                        <a:rPr sz="1100" b="0" i="0">
                          <a:solidFill>
                            <a:srgbClr val="000000"/>
                          </a:solidFill>
                          <a:latin typeface="Calibri" panose="020F0502020204030204"/>
                          <a:ea typeface="Calibri" panose="020F0502020204030204"/>
                        </a:rPr>
                        <a:t>493033543</a:t>
                      </a:r>
                    </a:p>
                  </a:txBody>
                  <a:tcPr marL="5080" marR="5080" marT="5080" marB="0" anchor="b">
                    <a:lnL>
                      <a:noFill/>
                    </a:lnL>
                    <a:lnR>
                      <a:noFill/>
                    </a:lnR>
                    <a:lnT>
                      <a:noFill/>
                    </a:lnT>
                    <a:lnB w="6350" cap="flat" cmpd="sng">
                      <a:solidFill>
                        <a:srgbClr val="8EA9DB"/>
                      </a:solidFill>
                      <a:prstDash val="solid"/>
                      <a:headEnd type="none" w="med" len="med"/>
                      <a:tailEnd type="none" w="med" len="med"/>
                    </a:lnB>
                    <a:noFill/>
                  </a:tcPr>
                </a:tc>
                <a:extLst>
                  <a:ext uri="{0D108BD9-81ED-4DB2-BD59-A6C34878D82A}">
                    <a16:rowId xmlns:a16="http://schemas.microsoft.com/office/drawing/2014/main" val="10008"/>
                  </a:ext>
                </a:extLst>
              </a:tr>
              <a:tr h="277706">
                <a:tc>
                  <a:txBody>
                    <a:bodyPr/>
                    <a:lstStyle/>
                    <a:p>
                      <a:pPr algn="l" fontAlgn="b"/>
                      <a:r>
                        <a:rPr sz="1100" b="1" i="0" u="none">
                          <a:solidFill>
                            <a:srgbClr val="000000"/>
                          </a:solidFill>
                          <a:latin typeface="Calibri" panose="020F0502020204030204"/>
                          <a:ea typeface="Calibri" panose="020F0502020204030204"/>
                        </a:rPr>
                        <a:t>Grand Total</a:t>
                      </a:r>
                    </a:p>
                  </a:txBody>
                  <a:tcPr marL="5080" marR="5080" marT="5080" marB="0" anchor="b">
                    <a:lnL>
                      <a:noFill/>
                    </a:lnL>
                    <a:lnR>
                      <a:noFill/>
                    </a:lnR>
                    <a:lnT w="6350" cap="flat" cmpd="sng">
                      <a:solidFill>
                        <a:srgbClr val="8EA9DB"/>
                      </a:solidFill>
                      <a:prstDash val="solid"/>
                      <a:headEnd type="none" w="med" len="med"/>
                      <a:tailEnd type="none" w="med" len="med"/>
                    </a:lnT>
                    <a:lnB>
                      <a:noFill/>
                    </a:lnB>
                    <a:solidFill>
                      <a:srgbClr val="D9E1F2"/>
                    </a:solidFill>
                  </a:tcPr>
                </a:tc>
                <a:tc>
                  <a:txBody>
                    <a:bodyPr/>
                    <a:lstStyle/>
                    <a:p>
                      <a:pPr algn="r" fontAlgn="b"/>
                      <a:r>
                        <a:rPr sz="1100" b="1" i="0" u="none" dirty="0">
                          <a:solidFill>
                            <a:srgbClr val="000000"/>
                          </a:solidFill>
                          <a:latin typeface="Calibri" panose="020F0502020204030204"/>
                          <a:ea typeface="Calibri" panose="020F0502020204030204"/>
                        </a:rPr>
                        <a:t>3355741653</a:t>
                      </a:r>
                    </a:p>
                  </a:txBody>
                  <a:tcPr marL="5080" marR="5080" marT="5080" marB="0" anchor="b">
                    <a:lnL>
                      <a:noFill/>
                    </a:lnL>
                    <a:lnR>
                      <a:noFill/>
                    </a:lnR>
                    <a:lnT w="6350" cap="flat" cmpd="sng">
                      <a:solidFill>
                        <a:srgbClr val="8EA9DB"/>
                      </a:solidFill>
                      <a:prstDash val="solid"/>
                      <a:headEnd type="none" w="med" len="med"/>
                      <a:tailEnd type="none" w="med" len="med"/>
                    </a:lnT>
                    <a:lnB>
                      <a:noFill/>
                    </a:lnB>
                    <a:solidFill>
                      <a:srgbClr val="D9E1F2"/>
                    </a:solidFill>
                  </a:tcPr>
                </a:tc>
                <a:extLst>
                  <a:ext uri="{0D108BD9-81ED-4DB2-BD59-A6C34878D82A}">
                    <a16:rowId xmlns:a16="http://schemas.microsoft.com/office/drawing/2014/main" val="10009"/>
                  </a:ext>
                </a:extLst>
              </a:tr>
            </a:tbl>
          </a:graphicData>
        </a:graphic>
      </p:graphicFrame>
      <p:graphicFrame>
        <p:nvGraphicFramePr>
          <p:cNvPr id="9" name="Chart 8"/>
          <p:cNvGraphicFramePr/>
          <p:nvPr>
            <p:extLst>
              <p:ext uri="{D42A27DB-BD31-4B8C-83A1-F6EECF244321}">
                <p14:modId xmlns:p14="http://schemas.microsoft.com/office/powerpoint/2010/main" val="383676257"/>
              </p:ext>
            </p:extLst>
          </p:nvPr>
        </p:nvGraphicFramePr>
        <p:xfrm>
          <a:off x="4113322" y="3223967"/>
          <a:ext cx="4390598" cy="298209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E247A3-A014-3D8C-4708-834459E22C44}"/>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56839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A09C-D0F4-76CF-C549-0B9A9ACBAB53}"/>
              </a:ext>
            </a:extLst>
          </p:cNvPr>
          <p:cNvSpPr>
            <a:spLocks noGrp="1"/>
          </p:cNvSpPr>
          <p:nvPr>
            <p:ph type="title"/>
          </p:nvPr>
        </p:nvSpPr>
        <p:spPr/>
        <p:txBody>
          <a:bodyPr/>
          <a:lstStyle/>
          <a:p>
            <a:r>
              <a:rPr lang="en-US" b="1" dirty="0"/>
              <a:t>Key Findings</a:t>
            </a:r>
            <a:endParaRPr lang="en-IN" b="1" dirty="0"/>
          </a:p>
        </p:txBody>
      </p:sp>
      <p:sp>
        <p:nvSpPr>
          <p:cNvPr id="4" name="Rectangle 1">
            <a:extLst>
              <a:ext uri="{FF2B5EF4-FFF2-40B4-BE49-F238E27FC236}">
                <a16:creationId xmlns:a16="http://schemas.microsoft.com/office/drawing/2014/main" id="{75AA05A8-EBDA-77ED-0599-9307CF9E3CFA}"/>
              </a:ext>
            </a:extLst>
          </p:cNvPr>
          <p:cNvSpPr>
            <a:spLocks noGrp="1" noChangeArrowheads="1"/>
          </p:cNvSpPr>
          <p:nvPr>
            <p:ph idx="1"/>
          </p:nvPr>
        </p:nvSpPr>
        <p:spPr bwMode="auto">
          <a:xfrm>
            <a:off x="1176865" y="2286690"/>
            <a:ext cx="751464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analysis showed that </a:t>
            </a:r>
            <a:r>
              <a:rPr kumimoji="0" lang="en-US" altLang="en-US" sz="1600" b="1" i="0" u="none" strike="noStrike" cap="none" normalizeH="0" baseline="0" dirty="0">
                <a:ln>
                  <a:noFill/>
                </a:ln>
                <a:solidFill>
                  <a:schemeClr val="tx1"/>
                </a:solidFill>
                <a:effectLst/>
                <a:latin typeface="Arial" panose="020B0604020202020204" pitchFamily="34" charset="0"/>
              </a:rPr>
              <a:t>Twitter had the highest average engagement rate</a:t>
            </a:r>
            <a:r>
              <a:rPr kumimoji="0" lang="en-US" altLang="en-US" sz="1600" b="0" i="0" u="none" strike="noStrike" cap="none" normalizeH="0" baseline="0" dirty="0">
                <a:ln>
                  <a:noFill/>
                </a:ln>
                <a:solidFill>
                  <a:schemeClr val="tx1"/>
                </a:solidFill>
                <a:effectLst/>
                <a:latin typeface="Arial" panose="020B0604020202020204" pitchFamily="34" charset="0"/>
              </a:rPr>
              <a:t> among all social media platforms.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TikTok and Twitter generated higher average views</a:t>
            </a:r>
            <a:r>
              <a:rPr kumimoji="0" lang="en-US" altLang="en-US" sz="1600" b="0" i="0" u="none" strike="noStrike" cap="none" normalizeH="0" baseline="0" dirty="0">
                <a:ln>
                  <a:noFill/>
                </a:ln>
                <a:solidFill>
                  <a:schemeClr val="tx1"/>
                </a:solidFill>
                <a:effectLst/>
                <a:latin typeface="Arial" panose="020B0604020202020204" pitchFamily="34" charset="0"/>
              </a:rPr>
              <a:t> compared to other platforms, showing stronger audience reach.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Video and Shorts content performed better</a:t>
            </a:r>
            <a:r>
              <a:rPr kumimoji="0" lang="en-US" altLang="en-US" sz="1600" b="0" i="0" u="none" strike="noStrike" cap="none" normalizeH="0" baseline="0" dirty="0">
                <a:ln>
                  <a:noFill/>
                </a:ln>
                <a:solidFill>
                  <a:schemeClr val="tx1"/>
                </a:solidFill>
                <a:effectLst/>
                <a:latin typeface="Arial" panose="020B0604020202020204" pitchFamily="34" charset="0"/>
              </a:rPr>
              <a:t> in terms of total engagement than other content types.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Trending hashtags such as </a:t>
            </a:r>
            <a:r>
              <a:rPr kumimoji="0" lang="en-US" altLang="en-US" sz="1600" b="1" i="0" u="none" strike="noStrike" cap="none" normalizeH="0" baseline="0" dirty="0">
                <a:ln>
                  <a:noFill/>
                </a:ln>
                <a:solidFill>
                  <a:schemeClr val="tx1"/>
                </a:solidFill>
                <a:effectLst/>
                <a:latin typeface="Arial" panose="020B0604020202020204" pitchFamily="34" charset="0"/>
              </a:rPr>
              <a:t>#Challenge and #Education</a:t>
            </a:r>
            <a:r>
              <a:rPr kumimoji="0" lang="en-US" altLang="en-US" sz="1600" b="0" i="0" u="none" strike="noStrike" cap="none" normalizeH="0" baseline="0" dirty="0">
                <a:ln>
                  <a:noFill/>
                </a:ln>
                <a:solidFill>
                  <a:schemeClr val="tx1"/>
                </a:solidFill>
                <a:effectLst/>
                <a:latin typeface="Arial" panose="020B0604020202020204" pitchFamily="34" charset="0"/>
              </a:rPr>
              <a:t> received high audience interaction and views.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Certain regions showed significantly higher likes and engagement, indicating that audience behavior changes by location.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Monthly analysis revealed that engagement levels were not constant throughout the year and varied from month to month. </a:t>
            </a:r>
          </a:p>
        </p:txBody>
      </p:sp>
    </p:spTree>
    <p:extLst>
      <p:ext uri="{BB962C8B-B14F-4D97-AF65-F5344CB8AC3E}">
        <p14:creationId xmlns:p14="http://schemas.microsoft.com/office/powerpoint/2010/main" val="2782870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AC272-E453-AEA8-078C-D176654787AE}"/>
              </a:ext>
            </a:extLst>
          </p:cNvPr>
          <p:cNvSpPr>
            <a:spLocks noGrp="1"/>
          </p:cNvSpPr>
          <p:nvPr>
            <p:ph type="title"/>
          </p:nvPr>
        </p:nvSpPr>
        <p:spPr/>
        <p:txBody>
          <a:bodyPr>
            <a:normAutofit/>
          </a:bodyPr>
          <a:lstStyle/>
          <a:p>
            <a:r>
              <a:rPr lang="en-US" b="1" dirty="0"/>
              <a:t>Project Outcomes</a:t>
            </a:r>
            <a:endParaRPr lang="en-IN" b="1" dirty="0"/>
          </a:p>
        </p:txBody>
      </p:sp>
      <p:sp>
        <p:nvSpPr>
          <p:cNvPr id="5" name="Rectangle 3">
            <a:extLst>
              <a:ext uri="{FF2B5EF4-FFF2-40B4-BE49-F238E27FC236}">
                <a16:creationId xmlns:a16="http://schemas.microsoft.com/office/drawing/2014/main" id="{D215334C-A3DA-F640-D899-E1BED896EAC3}"/>
              </a:ext>
            </a:extLst>
          </p:cNvPr>
          <p:cNvSpPr>
            <a:spLocks noChangeArrowheads="1"/>
          </p:cNvSpPr>
          <p:nvPr/>
        </p:nvSpPr>
        <p:spPr bwMode="auto">
          <a:xfrm>
            <a:off x="999241" y="2527675"/>
            <a:ext cx="742832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comparison of engagement metrics across regions and months.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understanding of social media engagement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Identification of high-performing hashtags and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analytical and dashboard creation skills in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ability to clean and visualize real-world datasets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05161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47A94-6050-8576-BF70-135BC2E845CE}"/>
              </a:ext>
            </a:extLst>
          </p:cNvPr>
          <p:cNvSpPr>
            <a:spLocks noGrp="1"/>
          </p:cNvSpPr>
          <p:nvPr>
            <p:ph type="title"/>
          </p:nvPr>
        </p:nvSpPr>
        <p:spPr/>
        <p:txBody>
          <a:bodyPr/>
          <a:lstStyle/>
          <a:p>
            <a:r>
              <a:rPr lang="en-US" b="1" dirty="0"/>
              <a:t>Questionnaire</a:t>
            </a:r>
            <a:endParaRPr lang="en-IN" b="1" dirty="0"/>
          </a:p>
        </p:txBody>
      </p:sp>
      <p:sp>
        <p:nvSpPr>
          <p:cNvPr id="4" name="TextBox 3">
            <a:extLst>
              <a:ext uri="{FF2B5EF4-FFF2-40B4-BE49-F238E27FC236}">
                <a16:creationId xmlns:a16="http://schemas.microsoft.com/office/drawing/2014/main" id="{259073D6-81F5-D29B-2BF5-6BD74E90CC5B}"/>
              </a:ext>
            </a:extLst>
          </p:cNvPr>
          <p:cNvSpPr txBox="1"/>
          <p:nvPr/>
        </p:nvSpPr>
        <p:spPr>
          <a:xfrm>
            <a:off x="1289115" y="2353418"/>
            <a:ext cx="7374117" cy="4247317"/>
          </a:xfrm>
          <a:prstGeom prst="rect">
            <a:avLst/>
          </a:prstGeom>
          <a:noFill/>
        </p:spPr>
        <p:txBody>
          <a:bodyPr wrap="square">
            <a:spAutoFit/>
          </a:bodyPr>
          <a:lstStyle/>
          <a:p>
            <a:pPr>
              <a:buNone/>
            </a:pPr>
            <a:r>
              <a:rPr lang="en-US" b="1" dirty="0"/>
              <a:t>General Questions</a:t>
            </a:r>
          </a:p>
          <a:p>
            <a:pPr marL="285750" indent="-285750">
              <a:buFont typeface="Arial" panose="020B0604020202020204" pitchFamily="34" charset="0"/>
              <a:buChar char="•"/>
            </a:pPr>
            <a:r>
              <a:rPr lang="en-US" dirty="0"/>
              <a:t>What is the main aim of this project?</a:t>
            </a:r>
          </a:p>
          <a:p>
            <a:pPr marL="285750" indent="-285750">
              <a:buFont typeface="Arial" panose="020B0604020202020204" pitchFamily="34" charset="0"/>
              <a:buChar char="•"/>
            </a:pPr>
            <a:r>
              <a:rPr lang="en-US" dirty="0"/>
              <a:t>Why is social media trend analysis important?</a:t>
            </a:r>
          </a:p>
          <a:p>
            <a:pPr marL="285750" indent="-285750">
              <a:buFont typeface="Arial" panose="020B0604020202020204" pitchFamily="34" charset="0"/>
              <a:buChar char="•"/>
            </a:pPr>
            <a:r>
              <a:rPr lang="en-US" dirty="0"/>
              <a:t>Which dataset was used in this project?</a:t>
            </a:r>
          </a:p>
          <a:p>
            <a:pPr marL="285750" indent="-285750">
              <a:buFont typeface="Arial" panose="020B0604020202020204" pitchFamily="34" charset="0"/>
              <a:buChar char="•"/>
            </a:pPr>
            <a:r>
              <a:rPr lang="en-US" dirty="0"/>
              <a:t>What are the key performance indicators analyzed?</a:t>
            </a:r>
          </a:p>
          <a:p>
            <a:pPr marL="285750" indent="-285750">
              <a:buFont typeface="Arial" panose="020B0604020202020204" pitchFamily="34" charset="0"/>
              <a:buChar char="•"/>
            </a:pPr>
            <a:r>
              <a:rPr lang="en-US" dirty="0"/>
              <a:t>What is the importance of dashboards in data analysis?</a:t>
            </a:r>
          </a:p>
          <a:p>
            <a:r>
              <a:rPr lang="en-US" b="1" dirty="0"/>
              <a:t>Excel Related Questions</a:t>
            </a:r>
          </a:p>
          <a:p>
            <a:pPr marL="285750" indent="-285750">
              <a:buFont typeface="Arial" panose="020B0604020202020204" pitchFamily="34" charset="0"/>
              <a:buChar char="•"/>
            </a:pPr>
            <a:r>
              <a:rPr lang="en-US" dirty="0"/>
              <a:t>Which Excel tools were used in this project?</a:t>
            </a:r>
          </a:p>
          <a:p>
            <a:pPr marL="285750" indent="-285750">
              <a:buFont typeface="Arial" panose="020B0604020202020204" pitchFamily="34" charset="0"/>
              <a:buChar char="•"/>
            </a:pPr>
            <a:r>
              <a:rPr lang="en-US" dirty="0"/>
              <a:t>What is a Pivot Table and why is it used?</a:t>
            </a:r>
          </a:p>
          <a:p>
            <a:pPr marL="285750" indent="-285750">
              <a:buFont typeface="Arial" panose="020B0604020202020204" pitchFamily="34" charset="0"/>
              <a:buChar char="•"/>
            </a:pPr>
            <a:r>
              <a:rPr lang="en-US" dirty="0"/>
              <a:t>How did you clean the dataset?</a:t>
            </a:r>
          </a:p>
          <a:p>
            <a:pPr marL="285750" indent="-285750">
              <a:buFont typeface="Arial" panose="020B0604020202020204" pitchFamily="34" charset="0"/>
              <a:buChar char="•"/>
            </a:pPr>
            <a:r>
              <a:rPr lang="en-US" dirty="0"/>
              <a:t>What is conditional formatting?</a:t>
            </a:r>
          </a:p>
          <a:p>
            <a:pPr marL="285750" indent="-285750">
              <a:buFont typeface="Arial" panose="020B0604020202020204" pitchFamily="34" charset="0"/>
              <a:buChar char="•"/>
            </a:pPr>
            <a:r>
              <a:rPr lang="en-US" dirty="0"/>
              <a:t>What is the purpose of slicers in dashboards?</a:t>
            </a:r>
          </a:p>
          <a:p>
            <a:pPr marL="285750" indent="-285750">
              <a:buFont typeface="Arial" panose="020B0604020202020204" pitchFamily="34" charset="0"/>
              <a:buChar char="•"/>
            </a:pPr>
            <a:r>
              <a:rPr lang="en-US" dirty="0"/>
              <a:t>Which formulas or functions were used?</a:t>
            </a:r>
          </a:p>
          <a:p>
            <a:pPr marL="285750" indent="-285750">
              <a:buFont typeface="Arial" panose="020B0604020202020204" pitchFamily="34" charset="0"/>
              <a:buChar char="•"/>
            </a:pPr>
            <a:r>
              <a:rPr lang="en-US" dirty="0"/>
              <a:t>How did you calculate engagement rate?</a:t>
            </a:r>
          </a:p>
          <a:p>
            <a:endParaRPr lang="en-US" dirty="0"/>
          </a:p>
        </p:txBody>
      </p:sp>
    </p:spTree>
    <p:extLst>
      <p:ext uri="{BB962C8B-B14F-4D97-AF65-F5344CB8AC3E}">
        <p14:creationId xmlns:p14="http://schemas.microsoft.com/office/powerpoint/2010/main" val="198997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Viral Social Media Trends Analysis project demonstrates how Microsoft Excel can be used effectively for data analysis and dashboard creation. The project provides valuable insights into audience engagement, trending hashtags, and platform performance. It also improves analytical thinking and practical Excel skills, making it useful for academic learning as well as real-world business applications.</a:t>
            </a:r>
            <a:endParaRPr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274320" y="6217920"/>
            <a:ext cx="8229600" cy="274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t>Social Media Trend Analysis Project</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43</TotalTime>
  <Words>815</Words>
  <Application>Microsoft Office PowerPoint</Application>
  <PresentationFormat>On-screen Show (4:3)</PresentationFormat>
  <Paragraphs>145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Garamond</vt:lpstr>
      <vt:lpstr>Times New Roman</vt:lpstr>
      <vt:lpstr>Organic</vt:lpstr>
      <vt:lpstr>PowerPoint Presentation</vt:lpstr>
      <vt:lpstr>Introduction</vt:lpstr>
      <vt:lpstr>Objectives</vt:lpstr>
      <vt:lpstr>Dataset Overview</vt:lpstr>
      <vt:lpstr>Tools &amp; Technologies</vt:lpstr>
      <vt:lpstr>Data Cleaning Process</vt:lpstr>
      <vt:lpstr>Platform Analysis</vt:lpstr>
      <vt:lpstr>Content Type Analysis</vt:lpstr>
      <vt:lpstr>Hashtag Trend Analysis</vt:lpstr>
      <vt:lpstr>Regional Analysis</vt:lpstr>
      <vt:lpstr>PowerPoint Presentation</vt:lpstr>
      <vt:lpstr>Key Findings</vt:lpstr>
      <vt:lpstr>Project Outcomes</vt:lpstr>
      <vt:lpstr>Questionnaire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Harshit Pandey</dc:creator>
  <dc:description>generated using python-pptx</dc:description>
  <cp:lastModifiedBy>Harshit Pandey</cp:lastModifiedBy>
  <cp:revision>26</cp:revision>
  <dcterms:created xsi:type="dcterms:W3CDTF">2013-01-27T09:14:00Z</dcterms:created>
  <dcterms:modified xsi:type="dcterms:W3CDTF">2026-05-13T07:00:20Z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3FC87A1DE4434EED9D79D4348C023942_13</vt:lpwstr>
  </property>
  <property fmtid="{D5CDD505-2E9C-101B-9397-08002B2CF9AE}" pid="3" name="KSOProductBuildVer">
    <vt:lpwstr>1033-12.1.0.26372</vt:lpwstr>
  </property>
</Properties>
</file>